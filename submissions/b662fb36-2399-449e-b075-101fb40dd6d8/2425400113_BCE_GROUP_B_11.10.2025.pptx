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83" r:id="rId2"/>
    <p:sldId id="289" r:id="rId3"/>
    <p:sldId id="290" r:id="rId4"/>
    <p:sldId id="256" r:id="rId5"/>
    <p:sldId id="265" r:id="rId6"/>
    <p:sldId id="261" r:id="rId7"/>
    <p:sldId id="257" r:id="rId8"/>
    <p:sldId id="258" r:id="rId9"/>
    <p:sldId id="262" r:id="rId10"/>
    <p:sldId id="260" r:id="rId11"/>
    <p:sldId id="259" r:id="rId12"/>
    <p:sldId id="263" r:id="rId13"/>
    <p:sldId id="266" r:id="rId14"/>
    <p:sldId id="267" r:id="rId15"/>
    <p:sldId id="268" r:id="rId16"/>
    <p:sldId id="284" r:id="rId17"/>
    <p:sldId id="285" r:id="rId18"/>
    <p:sldId id="286" r:id="rId19"/>
    <p:sldId id="287"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91" r:id="rId35"/>
    <p:sldId id="292" r:id="rId36"/>
    <p:sldId id="293" r:id="rId37"/>
    <p:sldId id="294" r:id="rId38"/>
    <p:sldId id="288"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B573C-A58F-4934-A0FA-14DC10152464}" type="datetimeFigureOut">
              <a:rPr lang="en-US" smtClean="0"/>
              <a:t>8/22/2023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699FEF-DAC5-4F3E-909A-6DADAD38EDFE}" type="slidenum">
              <a:rPr lang="en-US" smtClean="0"/>
              <a:t>‹#›</a:t>
            </a:fld>
            <a:endParaRPr lang="en-US"/>
          </a:p>
        </p:txBody>
      </p:sp>
    </p:spTree>
    <p:extLst>
      <p:ext uri="{BB962C8B-B14F-4D97-AF65-F5344CB8AC3E}">
        <p14:creationId xmlns:p14="http://schemas.microsoft.com/office/powerpoint/2010/main" val="1278851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699FEF-DAC5-4F3E-909A-6DADAD38EDFE}" type="slidenum">
              <a:rPr lang="en-US" smtClean="0"/>
              <a:t>11</a:t>
            </a:fld>
            <a:endParaRPr lang="en-US"/>
          </a:p>
        </p:txBody>
      </p:sp>
    </p:spTree>
    <p:extLst>
      <p:ext uri="{BB962C8B-B14F-4D97-AF65-F5344CB8AC3E}">
        <p14:creationId xmlns:p14="http://schemas.microsoft.com/office/powerpoint/2010/main" val="3409278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5DD0C745-192B-4D32-A99B-6ADC2A492DA1}" type="datetime1">
              <a:rPr lang="en-GB" smtClean="0"/>
              <a:t>22/08/2023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663B3CF-6C2D-4911-96EF-7D0E630954F6}" type="slidenum">
              <a:rPr lang="en-GB" smtClean="0"/>
              <a:pPr/>
              <a:t>‹#›</a:t>
            </a:fld>
            <a:endParaRPr lang="en-GB"/>
          </a:p>
        </p:txBody>
      </p:sp>
    </p:spTree>
    <p:extLst>
      <p:ext uri="{BB962C8B-B14F-4D97-AF65-F5344CB8AC3E}">
        <p14:creationId xmlns:p14="http://schemas.microsoft.com/office/powerpoint/2010/main" val="1804155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991E2F2-80F8-4792-B0A0-9CC168906E11}" type="datetime1">
              <a:rPr lang="en-GB" smtClean="0"/>
              <a:t>22/08/2023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663B3CF-6C2D-4911-96EF-7D0E630954F6}" type="slidenum">
              <a:rPr lang="en-GB" smtClean="0"/>
              <a:pPr/>
              <a:t>‹#›</a:t>
            </a:fld>
            <a:endParaRPr lang="en-GB"/>
          </a:p>
        </p:txBody>
      </p:sp>
    </p:spTree>
    <p:extLst>
      <p:ext uri="{BB962C8B-B14F-4D97-AF65-F5344CB8AC3E}">
        <p14:creationId xmlns:p14="http://schemas.microsoft.com/office/powerpoint/2010/main" val="2414115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91DDC4-B94E-4F3D-BAFF-B03EDB69C000}" type="datetime1">
              <a:rPr lang="en-GB" smtClean="0"/>
              <a:t>22/08/2023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663B3CF-6C2D-4911-96EF-7D0E630954F6}" type="slidenum">
              <a:rPr lang="en-GB" smtClean="0"/>
              <a:pPr/>
              <a:t>‹#›</a:t>
            </a:fld>
            <a:endParaRPr lang="en-GB"/>
          </a:p>
        </p:txBody>
      </p:sp>
    </p:spTree>
    <p:extLst>
      <p:ext uri="{BB962C8B-B14F-4D97-AF65-F5344CB8AC3E}">
        <p14:creationId xmlns:p14="http://schemas.microsoft.com/office/powerpoint/2010/main" val="4067187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0D4B399-2FB4-4695-94E1-99F44A37370F}" type="datetime1">
              <a:rPr lang="en-GB" smtClean="0"/>
              <a:t>22/08/2023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663B3CF-6C2D-4911-96EF-7D0E630954F6}" type="slidenum">
              <a:rPr lang="en-GB" smtClean="0"/>
              <a:pPr/>
              <a:t>‹#›</a:t>
            </a:fld>
            <a:endParaRPr lang="en-GB"/>
          </a:p>
        </p:txBody>
      </p:sp>
    </p:spTree>
    <p:extLst>
      <p:ext uri="{BB962C8B-B14F-4D97-AF65-F5344CB8AC3E}">
        <p14:creationId xmlns:p14="http://schemas.microsoft.com/office/powerpoint/2010/main" val="3939382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3A0AD6C0-1734-47AC-B1F4-9CAE88B9F5E0}" type="datetime1">
              <a:rPr lang="en-GB" smtClean="0"/>
              <a:t>22/08/2023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663B3CF-6C2D-4911-96EF-7D0E630954F6}" type="slidenum">
              <a:rPr lang="en-GB" smtClean="0"/>
              <a:pPr/>
              <a:t>‹#›</a:t>
            </a:fld>
            <a:endParaRPr lang="en-GB"/>
          </a:p>
        </p:txBody>
      </p:sp>
    </p:spTree>
    <p:extLst>
      <p:ext uri="{BB962C8B-B14F-4D97-AF65-F5344CB8AC3E}">
        <p14:creationId xmlns:p14="http://schemas.microsoft.com/office/powerpoint/2010/main" val="2288384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A119AE8-7FB9-4CC0-998C-275929BEA433}" type="datetime1">
              <a:rPr lang="en-GB" smtClean="0"/>
              <a:t>22/08/2023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663B3CF-6C2D-4911-96EF-7D0E630954F6}" type="slidenum">
              <a:rPr lang="en-GB" smtClean="0"/>
              <a:pPr/>
              <a:t>‹#›</a:t>
            </a:fld>
            <a:endParaRPr lang="en-GB"/>
          </a:p>
        </p:txBody>
      </p:sp>
    </p:spTree>
    <p:extLst>
      <p:ext uri="{BB962C8B-B14F-4D97-AF65-F5344CB8AC3E}">
        <p14:creationId xmlns:p14="http://schemas.microsoft.com/office/powerpoint/2010/main" val="3419726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DD2315-52C4-439B-998B-143BB16D842A}" type="datetime1">
              <a:rPr lang="en-GB" smtClean="0"/>
              <a:t>22/08/2023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663B3CF-6C2D-4911-96EF-7D0E630954F6}" type="slidenum">
              <a:rPr lang="en-GB" smtClean="0"/>
              <a:pPr/>
              <a:t>‹#›</a:t>
            </a:fld>
            <a:endParaRPr lang="en-GB"/>
          </a:p>
        </p:txBody>
      </p:sp>
    </p:spTree>
    <p:extLst>
      <p:ext uri="{BB962C8B-B14F-4D97-AF65-F5344CB8AC3E}">
        <p14:creationId xmlns:p14="http://schemas.microsoft.com/office/powerpoint/2010/main" val="1970214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541370-5081-47B3-BFD7-71BC65307552}" type="datetime1">
              <a:rPr lang="en-GB" smtClean="0"/>
              <a:t>22/08/2023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663B3CF-6C2D-4911-96EF-7D0E630954F6}" type="slidenum">
              <a:rPr lang="en-GB" smtClean="0"/>
              <a:pPr/>
              <a:t>‹#›</a:t>
            </a:fld>
            <a:endParaRPr lang="en-GB"/>
          </a:p>
        </p:txBody>
      </p:sp>
    </p:spTree>
    <p:extLst>
      <p:ext uri="{BB962C8B-B14F-4D97-AF65-F5344CB8AC3E}">
        <p14:creationId xmlns:p14="http://schemas.microsoft.com/office/powerpoint/2010/main" val="3038679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56D531A-45C8-43A5-9384-CE1751D9081D}" type="datetime1">
              <a:rPr lang="en-GB" smtClean="0"/>
              <a:t>22/08/2023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663B3CF-6C2D-4911-96EF-7D0E630954F6}" type="slidenum">
              <a:rPr lang="en-GB" smtClean="0"/>
              <a:pPr/>
              <a:t>‹#›</a:t>
            </a:fld>
            <a:endParaRPr lang="en-GB"/>
          </a:p>
        </p:txBody>
      </p:sp>
    </p:spTree>
    <p:extLst>
      <p:ext uri="{BB962C8B-B14F-4D97-AF65-F5344CB8AC3E}">
        <p14:creationId xmlns:p14="http://schemas.microsoft.com/office/powerpoint/2010/main" val="682211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0037687-C02B-4C97-BA91-1721673CDFC7}" type="datetime1">
              <a:rPr lang="en-GB" smtClean="0"/>
              <a:t>22/08/2023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663B3CF-6C2D-4911-96EF-7D0E630954F6}" type="slidenum">
              <a:rPr lang="en-GB" smtClean="0"/>
              <a:pPr/>
              <a:t>‹#›</a:t>
            </a:fld>
            <a:endParaRPr lang="en-GB"/>
          </a:p>
        </p:txBody>
      </p:sp>
    </p:spTree>
    <p:extLst>
      <p:ext uri="{BB962C8B-B14F-4D97-AF65-F5344CB8AC3E}">
        <p14:creationId xmlns:p14="http://schemas.microsoft.com/office/powerpoint/2010/main" val="805992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3DFA63B-CC75-4962-B19B-04A71A0730E8}" type="datetime1">
              <a:rPr lang="en-GB" smtClean="0"/>
              <a:t>22/08/2023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663B3CF-6C2D-4911-96EF-7D0E630954F6}" type="slidenum">
              <a:rPr lang="en-GB" smtClean="0"/>
              <a:pPr/>
              <a:t>‹#›</a:t>
            </a:fld>
            <a:endParaRPr lang="en-GB"/>
          </a:p>
        </p:txBody>
      </p:sp>
    </p:spTree>
    <p:extLst>
      <p:ext uri="{BB962C8B-B14F-4D97-AF65-F5344CB8AC3E}">
        <p14:creationId xmlns:p14="http://schemas.microsoft.com/office/powerpoint/2010/main" val="173547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092D5A-9E06-461A-9D04-88AFBBFE9CD4}" type="datetime1">
              <a:rPr lang="en-GB" smtClean="0"/>
              <a:t>22/08/2023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63B3CF-6C2D-4911-96EF-7D0E630954F6}" type="slidenum">
              <a:rPr lang="en-GB" smtClean="0"/>
              <a:pPr/>
              <a:t>‹#›</a:t>
            </a:fld>
            <a:endParaRPr lang="en-GB"/>
          </a:p>
        </p:txBody>
      </p:sp>
    </p:spTree>
    <p:extLst>
      <p:ext uri="{BB962C8B-B14F-4D97-AF65-F5344CB8AC3E}">
        <p14:creationId xmlns:p14="http://schemas.microsoft.com/office/powerpoint/2010/main" val="2516898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sz="6000" b="1" u="sng" dirty="0"/>
              <a:t>NETWORK THEOREMS</a:t>
            </a:r>
          </a:p>
        </p:txBody>
      </p:sp>
      <p:sp>
        <p:nvSpPr>
          <p:cNvPr id="3" name="Content Placeholder 2"/>
          <p:cNvSpPr>
            <a:spLocks noGrp="1"/>
          </p:cNvSpPr>
          <p:nvPr>
            <p:ph idx="1"/>
          </p:nvPr>
        </p:nvSpPr>
        <p:spPr>
          <a:xfrm>
            <a:off x="152400" y="1600200"/>
            <a:ext cx="8839200" cy="4525963"/>
          </a:xfrm>
        </p:spPr>
        <p:txBody>
          <a:bodyPr>
            <a:normAutofit/>
          </a:bodyPr>
          <a:lstStyle/>
          <a:p>
            <a:pPr marL="0" indent="0" algn="just">
              <a:buNone/>
            </a:pPr>
            <a:endParaRPr lang="en-US" sz="1600" b="1" dirty="0"/>
          </a:p>
          <a:p>
            <a:pPr marL="0" indent="0" algn="just">
              <a:buNone/>
            </a:pPr>
            <a:endParaRPr lang="en-US" sz="1600" b="1" dirty="0"/>
          </a:p>
          <a:p>
            <a:pPr marL="0" indent="0" algn="just">
              <a:buNone/>
            </a:pPr>
            <a:endParaRPr lang="en-US" sz="1600" b="1" dirty="0"/>
          </a:p>
          <a:p>
            <a:pPr marL="0" indent="0" algn="just">
              <a:buNone/>
            </a:pPr>
            <a:endParaRPr lang="en-US" sz="1600" b="1" dirty="0"/>
          </a:p>
          <a:p>
            <a:pPr marL="0" indent="0" algn="ctr">
              <a:buNone/>
            </a:pPr>
            <a:r>
              <a:rPr lang="en-US" sz="2800" b="1" dirty="0"/>
              <a:t>LECTURER: Dr. </a:t>
            </a:r>
            <a:r>
              <a:rPr lang="en-US" sz="2800" b="1" dirty="0" err="1"/>
              <a:t>Ruhiya</a:t>
            </a:r>
            <a:r>
              <a:rPr lang="en-US" sz="2800" b="1" dirty="0"/>
              <a:t> </a:t>
            </a:r>
            <a:r>
              <a:rPr lang="en-US" sz="2800" b="1" dirty="0" err="1"/>
              <a:t>Abubakar</a:t>
            </a:r>
            <a:endParaRPr lang="en-US" sz="2800" b="1" dirty="0"/>
          </a:p>
          <a:p>
            <a:pPr marL="0" indent="0" algn="ctr">
              <a:buNone/>
            </a:pPr>
            <a:r>
              <a:rPr lang="en-US" sz="2800" b="1" dirty="0"/>
              <a:t>Faculty Of Engineering</a:t>
            </a:r>
          </a:p>
          <a:p>
            <a:pPr marL="0" indent="0" algn="ctr">
              <a:buNone/>
            </a:pPr>
            <a:r>
              <a:rPr lang="en-US" sz="2800" b="1" dirty="0"/>
              <a:t>Department Of Electrical And Electronics Department</a:t>
            </a:r>
          </a:p>
        </p:txBody>
      </p:sp>
      <p:sp>
        <p:nvSpPr>
          <p:cNvPr id="4" name="Slide Number Placeholder 3"/>
          <p:cNvSpPr>
            <a:spLocks noGrp="1"/>
          </p:cNvSpPr>
          <p:nvPr>
            <p:ph type="sldNum" sz="quarter" idx="12"/>
          </p:nvPr>
        </p:nvSpPr>
        <p:spPr/>
        <p:txBody>
          <a:bodyPr/>
          <a:lstStyle/>
          <a:p>
            <a:fld id="{E663B3CF-6C2D-4911-96EF-7D0E630954F6}" type="slidenum">
              <a:rPr lang="en-GB" smtClean="0"/>
              <a:pPr/>
              <a:t>1</a:t>
            </a:fld>
            <a:endParaRPr lang="en-GB"/>
          </a:p>
        </p:txBody>
      </p:sp>
    </p:spTree>
    <p:extLst>
      <p:ext uri="{BB962C8B-B14F-4D97-AF65-F5344CB8AC3E}">
        <p14:creationId xmlns:p14="http://schemas.microsoft.com/office/powerpoint/2010/main" val="3507098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9545"/>
            <a:ext cx="8229600" cy="639762"/>
          </a:xfrm>
        </p:spPr>
        <p:txBody>
          <a:bodyPr>
            <a:normAutofit fontScale="90000"/>
          </a:bodyPr>
          <a:lstStyle/>
          <a:p>
            <a:br>
              <a:rPr lang="en-US" b="1" dirty="0"/>
            </a:br>
            <a:r>
              <a:rPr lang="en-US" sz="5300" b="1" dirty="0"/>
              <a:t>Overview</a:t>
            </a:r>
            <a:br>
              <a:rPr lang="en-US" b="1" dirty="0"/>
            </a:br>
            <a:endParaRPr lang="en-US" dirty="0"/>
          </a:p>
        </p:txBody>
      </p:sp>
      <p:sp>
        <p:nvSpPr>
          <p:cNvPr id="3" name="Content Placeholder 2"/>
          <p:cNvSpPr>
            <a:spLocks noGrp="1"/>
          </p:cNvSpPr>
          <p:nvPr>
            <p:ph idx="1"/>
          </p:nvPr>
        </p:nvSpPr>
        <p:spPr>
          <a:xfrm>
            <a:off x="76200" y="914400"/>
            <a:ext cx="8839200" cy="5211763"/>
          </a:xfrm>
        </p:spPr>
        <p:txBody>
          <a:bodyPr>
            <a:normAutofit fontScale="77500" lnSpcReduction="20000"/>
          </a:bodyPr>
          <a:lstStyle/>
          <a:p>
            <a:pPr marL="0" indent="0">
              <a:buNone/>
            </a:pPr>
            <a:r>
              <a:rPr lang="en-US" dirty="0"/>
              <a:t>A network is a collection of interconnected electrical components. In general, the electrical networks are made to exchange the energy between different elements.</a:t>
            </a:r>
          </a:p>
          <a:p>
            <a:pPr marL="0" indent="0">
              <a:buNone/>
            </a:pPr>
            <a:endParaRPr lang="en-US" dirty="0"/>
          </a:p>
          <a:p>
            <a:pPr marL="0" indent="0">
              <a:buNone/>
            </a:pPr>
            <a:r>
              <a:rPr lang="en-US" dirty="0"/>
              <a:t>These electrical networks can be constructed either by using Resistors or Inductors or Capacitors or combination of these elements. </a:t>
            </a:r>
          </a:p>
          <a:p>
            <a:pPr>
              <a:buFont typeface="Wingdings" panose="05000000000000000000" pitchFamily="2" charset="2"/>
              <a:buChar char="v"/>
            </a:pPr>
            <a:r>
              <a:rPr lang="en-US" dirty="0"/>
              <a:t>	Network analysis is the process of finding the 			voltage response or the current response for any 			element in the network by using the available techniques</a:t>
            </a:r>
          </a:p>
          <a:p>
            <a:pPr marL="0" indent="0" algn="just">
              <a:buNone/>
            </a:pPr>
            <a:endParaRPr lang="en-US" dirty="0"/>
          </a:p>
          <a:p>
            <a:pPr marL="0" indent="0" algn="just">
              <a:buNone/>
            </a:pPr>
            <a:r>
              <a:rPr lang="en-US" dirty="0"/>
              <a:t>Aside the use of Ohm’s law, Kirchhoff’s law to solve complex electrical circuits, there are many circuit analysis theorems using which we can calculate the current and voltage at any given point in a circuit. Among the various circuit theorems.</a:t>
            </a:r>
          </a:p>
          <a:p>
            <a:pPr marL="0" indent="0" algn="just">
              <a:buNone/>
            </a:pPr>
            <a:endParaRPr lang="en-US" b="1" dirty="0"/>
          </a:p>
          <a:p>
            <a:endParaRPr lang="en-US" dirty="0"/>
          </a:p>
        </p:txBody>
      </p:sp>
      <p:sp>
        <p:nvSpPr>
          <p:cNvPr id="4" name="Slide Number Placeholder 3"/>
          <p:cNvSpPr>
            <a:spLocks noGrp="1"/>
          </p:cNvSpPr>
          <p:nvPr>
            <p:ph type="sldNum" sz="quarter" idx="12"/>
          </p:nvPr>
        </p:nvSpPr>
        <p:spPr/>
        <p:txBody>
          <a:bodyPr/>
          <a:lstStyle/>
          <a:p>
            <a:fld id="{E663B3CF-6C2D-4911-96EF-7D0E630954F6}" type="slidenum">
              <a:rPr lang="en-GB" smtClean="0"/>
              <a:pPr/>
              <a:t>2</a:t>
            </a:fld>
            <a:endParaRPr lang="en-GB"/>
          </a:p>
        </p:txBody>
      </p:sp>
    </p:spTree>
    <p:extLst>
      <p:ext uri="{BB962C8B-B14F-4D97-AF65-F5344CB8AC3E}">
        <p14:creationId xmlns:p14="http://schemas.microsoft.com/office/powerpoint/2010/main" val="1431343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Electricity System</a:t>
            </a:r>
          </a:p>
        </p:txBody>
      </p:sp>
      <p:pic>
        <p:nvPicPr>
          <p:cNvPr id="5" name="Content Placeholder 4"/>
          <p:cNvPicPr>
            <a:picLocks noGrp="1" noChangeAspect="1"/>
          </p:cNvPicPr>
          <p:nvPr>
            <p:ph idx="1"/>
          </p:nvPr>
        </p:nvPicPr>
        <p:blipFill>
          <a:blip r:embed="rId2"/>
          <a:stretch>
            <a:fillRect/>
          </a:stretch>
        </p:blipFill>
        <p:spPr>
          <a:xfrm>
            <a:off x="1219200" y="1219200"/>
            <a:ext cx="6324600" cy="3653631"/>
          </a:xfrm>
          <a:prstGeom prst="rect">
            <a:avLst/>
          </a:prstGeom>
        </p:spPr>
      </p:pic>
      <p:sp>
        <p:nvSpPr>
          <p:cNvPr id="4" name="Slide Number Placeholder 3"/>
          <p:cNvSpPr>
            <a:spLocks noGrp="1"/>
          </p:cNvSpPr>
          <p:nvPr>
            <p:ph type="sldNum" sz="quarter" idx="12"/>
          </p:nvPr>
        </p:nvSpPr>
        <p:spPr/>
        <p:txBody>
          <a:bodyPr/>
          <a:lstStyle/>
          <a:p>
            <a:fld id="{E663B3CF-6C2D-4911-96EF-7D0E630954F6}" type="slidenum">
              <a:rPr lang="en-GB" smtClean="0"/>
              <a:pPr/>
              <a:t>3</a:t>
            </a:fld>
            <a:endParaRPr lang="en-GB"/>
          </a:p>
        </p:txBody>
      </p:sp>
    </p:spTree>
    <p:extLst>
      <p:ext uri="{BB962C8B-B14F-4D97-AF65-F5344CB8AC3E}">
        <p14:creationId xmlns:p14="http://schemas.microsoft.com/office/powerpoint/2010/main" val="328433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533399"/>
          </a:xfrm>
        </p:spPr>
        <p:txBody>
          <a:bodyPr>
            <a:normAutofit fontScale="90000"/>
          </a:bodyPr>
          <a:lstStyle/>
          <a:p>
            <a:r>
              <a:rPr lang="en-GB" b="1" dirty="0"/>
              <a:t>NETWORK THEOREMS</a:t>
            </a:r>
          </a:p>
        </p:txBody>
      </p:sp>
      <p:sp>
        <p:nvSpPr>
          <p:cNvPr id="3" name="Subtitle 2"/>
          <p:cNvSpPr>
            <a:spLocks noGrp="1"/>
          </p:cNvSpPr>
          <p:nvPr>
            <p:ph type="subTitle" idx="1"/>
          </p:nvPr>
        </p:nvSpPr>
        <p:spPr>
          <a:xfrm>
            <a:off x="381000" y="838200"/>
            <a:ext cx="8458200" cy="5257800"/>
          </a:xfrm>
        </p:spPr>
        <p:txBody>
          <a:bodyPr>
            <a:normAutofit fontScale="85000" lnSpcReduction="10000"/>
          </a:bodyPr>
          <a:lstStyle/>
          <a:p>
            <a:pPr algn="just">
              <a:lnSpc>
                <a:spcPct val="150000"/>
              </a:lnSpc>
            </a:pPr>
            <a:r>
              <a:rPr lang="en-GB" sz="2000" dirty="0">
                <a:solidFill>
                  <a:schemeClr val="tx1"/>
                </a:solidFill>
              </a:rPr>
              <a:t>In practice, it is surprising how many circuits can be considered by simply applying principles  and techniques that will better develop them so that one can easily analyse any network no matter how complicated it is. </a:t>
            </a:r>
          </a:p>
          <a:p>
            <a:pPr algn="just">
              <a:lnSpc>
                <a:spcPct val="150000"/>
              </a:lnSpc>
            </a:pPr>
            <a:r>
              <a:rPr lang="en-GB" sz="2000" dirty="0">
                <a:solidFill>
                  <a:schemeClr val="tx1"/>
                </a:solidFill>
              </a:rPr>
              <a:t>There are quite variety of techniques , and often one cant say that, one technique is the correct one for a particular problem. Rather it is for a person to decide which approach is preferable</a:t>
            </a:r>
            <a:r>
              <a:rPr lang="en-GB" sz="2400" dirty="0">
                <a:solidFill>
                  <a:schemeClr val="tx1"/>
                </a:solidFill>
              </a:rPr>
              <a:t>.</a:t>
            </a:r>
          </a:p>
          <a:p>
            <a:pPr algn="just"/>
            <a:endParaRPr lang="en-GB" sz="2400" dirty="0">
              <a:solidFill>
                <a:schemeClr val="tx1"/>
              </a:solidFill>
            </a:endParaRPr>
          </a:p>
          <a:p>
            <a:pPr algn="just">
              <a:lnSpc>
                <a:spcPct val="160000"/>
              </a:lnSpc>
            </a:pPr>
            <a:r>
              <a:rPr lang="en-GB" sz="2000" dirty="0">
                <a:solidFill>
                  <a:schemeClr val="tx1"/>
                </a:solidFill>
              </a:rPr>
              <a:t>By the end </a:t>
            </a:r>
            <a:r>
              <a:rPr lang="en-GB" sz="2000">
                <a:solidFill>
                  <a:schemeClr val="tx1"/>
                </a:solidFill>
              </a:rPr>
              <a:t>of this </a:t>
            </a:r>
            <a:r>
              <a:rPr lang="en-GB" sz="2000" dirty="0">
                <a:solidFill>
                  <a:schemeClr val="tx1"/>
                </a:solidFill>
              </a:rPr>
              <a:t>session, we shall be able to analysis the performance of almost any network we may meet in practice even if it were to involve a hundred resistors. We shall also be able to readily determine the performance of a single component in such a network even to the point of determine the maximum power which it can dissipate. Finally we shall be able to compete exercises using these methods of networks analysis                                                                                                                         </a:t>
            </a:r>
          </a:p>
          <a:p>
            <a:pPr algn="just">
              <a:lnSpc>
                <a:spcPct val="160000"/>
              </a:lnSpc>
            </a:pPr>
            <a:endParaRPr lang="en-GB" sz="2000" dirty="0">
              <a:solidFill>
                <a:schemeClr val="tx1"/>
              </a:solidFill>
            </a:endParaRPr>
          </a:p>
        </p:txBody>
      </p:sp>
      <p:sp>
        <p:nvSpPr>
          <p:cNvPr id="4" name="Slide Number Placeholder 3"/>
          <p:cNvSpPr>
            <a:spLocks noGrp="1"/>
          </p:cNvSpPr>
          <p:nvPr>
            <p:ph type="sldNum" sz="quarter" idx="12"/>
          </p:nvPr>
        </p:nvSpPr>
        <p:spPr/>
        <p:txBody>
          <a:bodyPr/>
          <a:lstStyle/>
          <a:p>
            <a:fld id="{E663B3CF-6C2D-4911-96EF-7D0E630954F6}" type="slidenum">
              <a:rPr lang="en-GB" smtClean="0"/>
              <a:pPr/>
              <a:t>4</a:t>
            </a:fld>
            <a:endParaRPr lang="en-GB"/>
          </a:p>
        </p:txBody>
      </p:sp>
    </p:spTree>
    <p:extLst>
      <p:ext uri="{BB962C8B-B14F-4D97-AF65-F5344CB8AC3E}">
        <p14:creationId xmlns:p14="http://schemas.microsoft.com/office/powerpoint/2010/main" val="2836656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defRPr/>
            </a:pPr>
            <a:r>
              <a:rPr lang="en-US" altLang="ko-KR" dirty="0">
                <a:ea typeface="굴림" pitchFamily="34" charset="-127"/>
              </a:rPr>
              <a:t>Introduction</a:t>
            </a:r>
            <a:endParaRPr lang="en-US" altLang="zh-TW" dirty="0">
              <a:ea typeface="新細明體" pitchFamily="18" charset="-120"/>
            </a:endParaRPr>
          </a:p>
        </p:txBody>
      </p:sp>
      <p:sp>
        <p:nvSpPr>
          <p:cNvPr id="10" name="Slide Number Placeholder 4"/>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0F547D30-A69B-4B14-B1F6-313605CE1B9E}" type="slidenum">
              <a:rPr lang="en-US" altLang="zh-TW"/>
              <a:pPr>
                <a:defRPr/>
              </a:pPr>
              <a:t>5</a:t>
            </a:fld>
            <a:endParaRPr lang="en-US" altLang="zh-TW"/>
          </a:p>
        </p:txBody>
      </p:sp>
      <p:sp>
        <p:nvSpPr>
          <p:cNvPr id="82948" name="Rectangle 4"/>
          <p:cNvSpPr>
            <a:spLocks noChangeArrowheads="1"/>
          </p:cNvSpPr>
          <p:nvPr/>
        </p:nvSpPr>
        <p:spPr bwMode="auto">
          <a:xfrm>
            <a:off x="539750" y="1412875"/>
            <a:ext cx="2700338" cy="1727200"/>
          </a:xfrm>
          <a:prstGeom prst="rect">
            <a:avLst/>
          </a:prstGeom>
          <a:gradFill rotWithShape="1">
            <a:gsLst>
              <a:gs pos="0">
                <a:srgbClr val="67FF79"/>
              </a:gs>
              <a:gs pos="50000">
                <a:srgbClr val="9DFFA9"/>
              </a:gs>
              <a:gs pos="100000">
                <a:srgbClr val="67FF79"/>
              </a:gs>
            </a:gsLst>
            <a:lin ang="2700000" scaled="1"/>
          </a:gradFill>
          <a:ln w="9525">
            <a:noFill/>
            <a:miter lim="800000"/>
            <a:headEnd/>
            <a:tailEnd/>
          </a:ln>
          <a:effectLst>
            <a:outerShdw dist="35921" dir="2700000" algn="ctr" rotWithShape="0">
              <a:srgbClr val="00CC00"/>
            </a:outerShdw>
          </a:effectLst>
        </p:spPr>
        <p:txBody>
          <a:bodyPr wrap="none" anchor="ctr"/>
          <a:lstStyle/>
          <a:p>
            <a:r>
              <a:rPr kumimoji="1" lang="en-US" altLang="zh-TW" sz="2400" b="1">
                <a:solidFill>
                  <a:schemeClr val="tx2"/>
                </a:solidFill>
              </a:rPr>
              <a:t>A large</a:t>
            </a:r>
          </a:p>
          <a:p>
            <a:r>
              <a:rPr kumimoji="1" lang="en-US" altLang="zh-TW" sz="2400" b="1">
                <a:solidFill>
                  <a:schemeClr val="tx2"/>
                </a:solidFill>
              </a:rPr>
              <a:t>complex circuits</a:t>
            </a:r>
            <a:endParaRPr kumimoji="1" lang="en-US" altLang="zh-TW" sz="2400" b="1">
              <a:solidFill>
                <a:schemeClr val="tx2"/>
              </a:solidFill>
              <a:ea typeface="標楷體" pitchFamily="65" charset="-120"/>
            </a:endParaRPr>
          </a:p>
        </p:txBody>
      </p:sp>
      <p:sp>
        <p:nvSpPr>
          <p:cNvPr id="82949" name="Rectangle 5"/>
          <p:cNvSpPr>
            <a:spLocks noChangeArrowheads="1"/>
          </p:cNvSpPr>
          <p:nvPr/>
        </p:nvSpPr>
        <p:spPr bwMode="auto">
          <a:xfrm>
            <a:off x="5291138" y="1412875"/>
            <a:ext cx="2665412" cy="1728788"/>
          </a:xfrm>
          <a:prstGeom prst="rect">
            <a:avLst/>
          </a:prstGeom>
          <a:gradFill rotWithShape="1">
            <a:gsLst>
              <a:gs pos="0">
                <a:srgbClr val="6666FF"/>
              </a:gs>
              <a:gs pos="50000">
                <a:srgbClr val="9D9DFF"/>
              </a:gs>
              <a:gs pos="100000">
                <a:srgbClr val="6666FF"/>
              </a:gs>
            </a:gsLst>
            <a:lin ang="2700000" scaled="1"/>
          </a:gradFill>
          <a:ln w="9525">
            <a:noFill/>
            <a:miter lim="800000"/>
            <a:headEnd/>
            <a:tailEnd/>
          </a:ln>
          <a:effectLst>
            <a:outerShdw dist="35921" dir="2700000" algn="ctr" rotWithShape="0">
              <a:schemeClr val="accent2"/>
            </a:outerShdw>
          </a:effectLst>
        </p:spPr>
        <p:txBody>
          <a:bodyPr wrap="none" anchor="ctr"/>
          <a:lstStyle/>
          <a:p>
            <a:r>
              <a:rPr kumimoji="1" lang="en-US" altLang="zh-TW" sz="2400" b="1">
                <a:solidFill>
                  <a:schemeClr val="tx2"/>
                </a:solidFill>
              </a:rPr>
              <a:t>Simplify</a:t>
            </a:r>
          </a:p>
          <a:p>
            <a:r>
              <a:rPr kumimoji="1" lang="en-US" altLang="zh-TW" sz="2400" b="1">
                <a:solidFill>
                  <a:schemeClr val="tx2"/>
                </a:solidFill>
              </a:rPr>
              <a:t>circuit analysis</a:t>
            </a:r>
          </a:p>
        </p:txBody>
      </p:sp>
      <p:sp>
        <p:nvSpPr>
          <p:cNvPr id="82950" name="Rectangle 6"/>
          <p:cNvSpPr>
            <a:spLocks noChangeArrowheads="1"/>
          </p:cNvSpPr>
          <p:nvPr/>
        </p:nvSpPr>
        <p:spPr bwMode="auto">
          <a:xfrm>
            <a:off x="2843213" y="3933825"/>
            <a:ext cx="2809875" cy="790575"/>
          </a:xfrm>
          <a:prstGeom prst="rect">
            <a:avLst/>
          </a:prstGeom>
          <a:gradFill rotWithShape="1">
            <a:gsLst>
              <a:gs pos="0">
                <a:srgbClr val="FFCC00"/>
              </a:gs>
              <a:gs pos="50000">
                <a:srgbClr val="FFFF99"/>
              </a:gs>
              <a:gs pos="100000">
                <a:srgbClr val="FFCC00"/>
              </a:gs>
            </a:gsLst>
            <a:lin ang="2700000" scaled="1"/>
          </a:gradFill>
          <a:ln w="9525">
            <a:noFill/>
            <a:miter lim="800000"/>
            <a:headEnd/>
            <a:tailEnd/>
          </a:ln>
          <a:effectLst>
            <a:outerShdw dist="35921" dir="2700000" algn="ctr" rotWithShape="0">
              <a:srgbClr val="FF9933"/>
            </a:outerShdw>
          </a:effectLst>
        </p:spPr>
        <p:txBody>
          <a:bodyPr wrap="none" anchor="ctr"/>
          <a:lstStyle/>
          <a:p>
            <a:r>
              <a:rPr lang="en-US" altLang="zh-TW" sz="2400" b="1">
                <a:solidFill>
                  <a:schemeClr val="tx2"/>
                </a:solidFill>
              </a:rPr>
              <a:t>Circuit Theorems</a:t>
            </a:r>
          </a:p>
        </p:txBody>
      </p:sp>
      <p:sp>
        <p:nvSpPr>
          <p:cNvPr id="82951" name="Rectangle 7"/>
          <p:cNvSpPr>
            <a:spLocks noChangeArrowheads="1"/>
          </p:cNvSpPr>
          <p:nvPr/>
        </p:nvSpPr>
        <p:spPr bwMode="auto">
          <a:xfrm>
            <a:off x="468313" y="5013325"/>
            <a:ext cx="8135937" cy="1295400"/>
          </a:xfrm>
          <a:prstGeom prst="rect">
            <a:avLst/>
          </a:prstGeom>
          <a:gradFill rotWithShape="1">
            <a:gsLst>
              <a:gs pos="0">
                <a:srgbClr val="FF9999"/>
              </a:gs>
              <a:gs pos="50000">
                <a:srgbClr val="FFBFBF"/>
              </a:gs>
              <a:gs pos="100000">
                <a:srgbClr val="FF9999"/>
              </a:gs>
            </a:gsLst>
            <a:lin ang="2700000" scaled="1"/>
          </a:gradFill>
          <a:ln w="9525">
            <a:noFill/>
            <a:miter lim="800000"/>
            <a:headEnd/>
            <a:tailEnd/>
          </a:ln>
          <a:effectLst>
            <a:outerShdw dist="35921" dir="2700000" algn="ctr" rotWithShape="0">
              <a:srgbClr val="CC0066"/>
            </a:outerShdw>
          </a:effectLst>
        </p:spPr>
        <p:txBody>
          <a:bodyPr wrap="none" anchor="ctr"/>
          <a:lstStyle/>
          <a:p>
            <a:pPr marL="269875" indent="-269875" algn="l">
              <a:tabLst>
                <a:tab pos="4211638" algn="l"/>
              </a:tabLst>
            </a:pPr>
            <a:r>
              <a:rPr kumimoji="1" lang="en-US" altLang="zh-TW" sz="2400" b="1" dirty="0">
                <a:solidFill>
                  <a:schemeClr val="tx2"/>
                </a:solidFill>
                <a:ea typeface="標楷體" pitchFamily="65" charset="-120"/>
              </a:rPr>
              <a:t>‧</a:t>
            </a:r>
            <a:r>
              <a:rPr kumimoji="1" lang="en-US" altLang="zh-TW" sz="2400" b="1" dirty="0" err="1">
                <a:solidFill>
                  <a:schemeClr val="tx2"/>
                </a:solidFill>
                <a:ea typeface="標楷體" pitchFamily="65" charset="-120"/>
              </a:rPr>
              <a:t>Thevenin’s</a:t>
            </a:r>
            <a:r>
              <a:rPr kumimoji="1" lang="en-US" altLang="zh-TW" sz="2400" b="1" dirty="0">
                <a:solidFill>
                  <a:schemeClr val="tx2"/>
                </a:solidFill>
                <a:ea typeface="標楷體" pitchFamily="65" charset="-120"/>
              </a:rPr>
              <a:t> theorem	‧ Norton theorem</a:t>
            </a:r>
          </a:p>
          <a:p>
            <a:pPr marL="269875" indent="-269875" algn="l">
              <a:tabLst>
                <a:tab pos="4211638" algn="l"/>
              </a:tabLst>
            </a:pPr>
            <a:r>
              <a:rPr kumimoji="1" lang="en-US" altLang="zh-TW" sz="2400" b="1" dirty="0">
                <a:solidFill>
                  <a:schemeClr val="tx2"/>
                </a:solidFill>
                <a:ea typeface="標楷體" pitchFamily="65" charset="-120"/>
              </a:rPr>
              <a:t>‧Circuit linearity	‧ Superposition</a:t>
            </a:r>
          </a:p>
          <a:p>
            <a:pPr marL="269875" indent="-269875" algn="l">
              <a:tabLst>
                <a:tab pos="4211638" algn="l"/>
              </a:tabLst>
            </a:pPr>
            <a:r>
              <a:rPr kumimoji="1" lang="en-US" altLang="zh-TW" sz="2400" b="1" dirty="0">
                <a:solidFill>
                  <a:schemeClr val="tx2"/>
                </a:solidFill>
                <a:ea typeface="標楷體" pitchFamily="65" charset="-120"/>
              </a:rPr>
              <a:t>‧Source transformation	‧ max. power transfer</a:t>
            </a:r>
          </a:p>
          <a:p>
            <a:pPr marL="342900" indent="-342900" algn="l">
              <a:buFont typeface="Wingdings" panose="05000000000000000000" pitchFamily="2" charset="2"/>
              <a:buChar char="§"/>
              <a:tabLst>
                <a:tab pos="4211638" algn="l"/>
              </a:tabLst>
            </a:pPr>
            <a:r>
              <a:rPr kumimoji="1" lang="en-US" altLang="zh-TW" sz="2400" b="1" dirty="0">
                <a:solidFill>
                  <a:schemeClr val="tx2"/>
                </a:solidFill>
                <a:ea typeface="標楷體" pitchFamily="65" charset="-120"/>
              </a:rPr>
              <a:t>Star Delta, Delta Star transformation</a:t>
            </a:r>
          </a:p>
        </p:txBody>
      </p:sp>
      <p:sp>
        <p:nvSpPr>
          <p:cNvPr id="82953" name="AutoShape 9"/>
          <p:cNvSpPr>
            <a:spLocks noChangeArrowheads="1"/>
          </p:cNvSpPr>
          <p:nvPr/>
        </p:nvSpPr>
        <p:spPr bwMode="auto">
          <a:xfrm>
            <a:off x="3348038" y="1700213"/>
            <a:ext cx="1871662" cy="931862"/>
          </a:xfrm>
          <a:prstGeom prst="rightArrow">
            <a:avLst>
              <a:gd name="adj1" fmla="val 50000"/>
              <a:gd name="adj2" fmla="val 50213"/>
            </a:avLst>
          </a:prstGeom>
          <a:gradFill rotWithShape="1">
            <a:gsLst>
              <a:gs pos="0">
                <a:srgbClr val="99FF99"/>
              </a:gs>
              <a:gs pos="100000">
                <a:srgbClr val="61A261"/>
              </a:gs>
            </a:gsLst>
            <a:lin ang="0" scaled="1"/>
          </a:gradFill>
          <a:ln w="9525" algn="ctr">
            <a:noFill/>
            <a:miter lim="800000"/>
            <a:headEnd/>
            <a:tailEnd/>
          </a:ln>
          <a:effectLst/>
        </p:spPr>
        <p:txBody>
          <a:bodyPr wrap="none" anchor="ctr"/>
          <a:lstStyle/>
          <a:p>
            <a:endParaRPr lang="tr-TR"/>
          </a:p>
        </p:txBody>
      </p:sp>
      <p:sp>
        <p:nvSpPr>
          <p:cNvPr id="82954" name="AutoShape 10"/>
          <p:cNvSpPr>
            <a:spLocks noChangeArrowheads="1"/>
          </p:cNvSpPr>
          <p:nvPr/>
        </p:nvSpPr>
        <p:spPr bwMode="auto">
          <a:xfrm rot="-5400000">
            <a:off x="3491707" y="2780506"/>
            <a:ext cx="1439862" cy="720725"/>
          </a:xfrm>
          <a:prstGeom prst="rightArrow">
            <a:avLst>
              <a:gd name="adj1" fmla="val 50000"/>
              <a:gd name="adj2" fmla="val 49945"/>
            </a:avLst>
          </a:prstGeom>
          <a:gradFill rotWithShape="1">
            <a:gsLst>
              <a:gs pos="0">
                <a:srgbClr val="99FF99"/>
              </a:gs>
              <a:gs pos="100000">
                <a:srgbClr val="61A261"/>
              </a:gs>
            </a:gsLst>
            <a:lin ang="0" scaled="1"/>
          </a:gradFill>
          <a:ln w="9525" algn="ctr">
            <a:noFill/>
            <a:miter lim="800000"/>
            <a:headEnd/>
            <a:tailEnd/>
          </a:ln>
          <a:effectLst/>
        </p:spPr>
        <p:txBody>
          <a:bodyPr wrap="none" anchor="ctr"/>
          <a:lstStyle/>
          <a:p>
            <a:endParaRPr lang="tr-T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32" fill="hold" grpId="0" nodeType="after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circle(out)">
                                      <p:cBhvr>
                                        <p:cTn id="7" dur="500"/>
                                        <p:tgtEl>
                                          <p:spTgt spid="82948"/>
                                        </p:tgtEl>
                                      </p:cBhvr>
                                    </p:animEffect>
                                  </p:childTnLst>
                                </p:cTn>
                              </p:par>
                            </p:childTnLst>
                          </p:cTn>
                        </p:par>
                        <p:par>
                          <p:cTn id="8" fill="hold" nodeType="afterGroup">
                            <p:stCondLst>
                              <p:cond delay="500"/>
                            </p:stCondLst>
                            <p:childTnLst>
                              <p:par>
                                <p:cTn id="9" presetID="6" presetClass="entr" presetSubtype="32" fill="hold" grpId="0" nodeType="afterEffect">
                                  <p:stCondLst>
                                    <p:cond delay="0"/>
                                  </p:stCondLst>
                                  <p:childTnLst>
                                    <p:set>
                                      <p:cBhvr>
                                        <p:cTn id="10" dur="1" fill="hold">
                                          <p:stCondLst>
                                            <p:cond delay="0"/>
                                          </p:stCondLst>
                                        </p:cTn>
                                        <p:tgtEl>
                                          <p:spTgt spid="82953"/>
                                        </p:tgtEl>
                                        <p:attrNameLst>
                                          <p:attrName>style.visibility</p:attrName>
                                        </p:attrNameLst>
                                      </p:cBhvr>
                                      <p:to>
                                        <p:strVal val="visible"/>
                                      </p:to>
                                    </p:set>
                                    <p:animEffect transition="in" filter="circle(out)">
                                      <p:cBhvr>
                                        <p:cTn id="11" dur="500"/>
                                        <p:tgtEl>
                                          <p:spTgt spid="82953"/>
                                        </p:tgtEl>
                                      </p:cBhvr>
                                    </p:animEffect>
                                  </p:childTnLst>
                                </p:cTn>
                              </p:par>
                            </p:childTnLst>
                          </p:cTn>
                        </p:par>
                        <p:par>
                          <p:cTn id="12" fill="hold" nodeType="afterGroup">
                            <p:stCondLst>
                              <p:cond delay="1000"/>
                            </p:stCondLst>
                            <p:childTnLst>
                              <p:par>
                                <p:cTn id="13" presetID="6" presetClass="entr" presetSubtype="32" fill="hold" grpId="0" nodeType="afterEffect">
                                  <p:stCondLst>
                                    <p:cond delay="0"/>
                                  </p:stCondLst>
                                  <p:childTnLst>
                                    <p:set>
                                      <p:cBhvr>
                                        <p:cTn id="14" dur="1" fill="hold">
                                          <p:stCondLst>
                                            <p:cond delay="0"/>
                                          </p:stCondLst>
                                        </p:cTn>
                                        <p:tgtEl>
                                          <p:spTgt spid="82949"/>
                                        </p:tgtEl>
                                        <p:attrNameLst>
                                          <p:attrName>style.visibility</p:attrName>
                                        </p:attrNameLst>
                                      </p:cBhvr>
                                      <p:to>
                                        <p:strVal val="visible"/>
                                      </p:to>
                                    </p:set>
                                    <p:animEffect transition="in" filter="circle(out)">
                                      <p:cBhvr>
                                        <p:cTn id="15" dur="500"/>
                                        <p:tgtEl>
                                          <p:spTgt spid="8294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6" presetClass="entr" presetSubtype="32" fill="hold" grpId="0" nodeType="clickEffect">
                                  <p:stCondLst>
                                    <p:cond delay="0"/>
                                  </p:stCondLst>
                                  <p:childTnLst>
                                    <p:set>
                                      <p:cBhvr>
                                        <p:cTn id="19" dur="1" fill="hold">
                                          <p:stCondLst>
                                            <p:cond delay="0"/>
                                          </p:stCondLst>
                                        </p:cTn>
                                        <p:tgtEl>
                                          <p:spTgt spid="82954"/>
                                        </p:tgtEl>
                                        <p:attrNameLst>
                                          <p:attrName>style.visibility</p:attrName>
                                        </p:attrNameLst>
                                      </p:cBhvr>
                                      <p:to>
                                        <p:strVal val="visible"/>
                                      </p:to>
                                    </p:set>
                                    <p:animEffect transition="in" filter="circle(out)">
                                      <p:cBhvr>
                                        <p:cTn id="20" dur="500"/>
                                        <p:tgtEl>
                                          <p:spTgt spid="82954"/>
                                        </p:tgtEl>
                                      </p:cBhvr>
                                    </p:animEffect>
                                  </p:childTnLst>
                                </p:cTn>
                              </p:par>
                            </p:childTnLst>
                          </p:cTn>
                        </p:par>
                        <p:par>
                          <p:cTn id="21" fill="hold" nodeType="afterGroup">
                            <p:stCondLst>
                              <p:cond delay="500"/>
                            </p:stCondLst>
                            <p:childTnLst>
                              <p:par>
                                <p:cTn id="22" presetID="6" presetClass="entr" presetSubtype="32" fill="hold" grpId="0" nodeType="afterEffect">
                                  <p:stCondLst>
                                    <p:cond delay="0"/>
                                  </p:stCondLst>
                                  <p:childTnLst>
                                    <p:set>
                                      <p:cBhvr>
                                        <p:cTn id="23" dur="1" fill="hold">
                                          <p:stCondLst>
                                            <p:cond delay="0"/>
                                          </p:stCondLst>
                                        </p:cTn>
                                        <p:tgtEl>
                                          <p:spTgt spid="82950"/>
                                        </p:tgtEl>
                                        <p:attrNameLst>
                                          <p:attrName>style.visibility</p:attrName>
                                        </p:attrNameLst>
                                      </p:cBhvr>
                                      <p:to>
                                        <p:strVal val="visible"/>
                                      </p:to>
                                    </p:set>
                                    <p:animEffect transition="in" filter="circle(out)">
                                      <p:cBhvr>
                                        <p:cTn id="24" dur="500"/>
                                        <p:tgtEl>
                                          <p:spTgt spid="8295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6" presetClass="entr" presetSubtype="32" fill="hold" grpId="0" nodeType="clickEffect">
                                  <p:stCondLst>
                                    <p:cond delay="0"/>
                                  </p:stCondLst>
                                  <p:childTnLst>
                                    <p:set>
                                      <p:cBhvr>
                                        <p:cTn id="28" dur="1" fill="hold">
                                          <p:stCondLst>
                                            <p:cond delay="0"/>
                                          </p:stCondLst>
                                        </p:cTn>
                                        <p:tgtEl>
                                          <p:spTgt spid="82951"/>
                                        </p:tgtEl>
                                        <p:attrNameLst>
                                          <p:attrName>style.visibility</p:attrName>
                                        </p:attrNameLst>
                                      </p:cBhvr>
                                      <p:to>
                                        <p:strVal val="visible"/>
                                      </p:to>
                                    </p:set>
                                    <p:animEffect transition="in" filter="circle(out)">
                                      <p:cBhvr>
                                        <p:cTn id="29" dur="500"/>
                                        <p:tgtEl>
                                          <p:spTgt spid="82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animBg="1"/>
      <p:bldP spid="82949" grpId="0" animBg="1"/>
      <p:bldP spid="82950" grpId="0" animBg="1"/>
      <p:bldP spid="82951" grpId="0" animBg="1"/>
      <p:bldP spid="82953" grpId="0" animBg="1"/>
      <p:bldP spid="8295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Autofit/>
          </a:bodyPr>
          <a:lstStyle/>
          <a:p>
            <a:r>
              <a:rPr lang="en-US" sz="3600" b="1" dirty="0"/>
              <a:t>INTRODUCTION TO THEVENINS AND NORTONS THEOREM</a:t>
            </a:r>
          </a:p>
        </p:txBody>
      </p:sp>
      <p:sp>
        <p:nvSpPr>
          <p:cNvPr id="3" name="Content Placeholder 2"/>
          <p:cNvSpPr>
            <a:spLocks noGrp="1"/>
          </p:cNvSpPr>
          <p:nvPr>
            <p:ph idx="1"/>
          </p:nvPr>
        </p:nvSpPr>
        <p:spPr/>
        <p:txBody>
          <a:bodyPr numCol="1">
            <a:normAutofit/>
          </a:bodyPr>
          <a:lstStyle/>
          <a:p>
            <a:r>
              <a:rPr lang="en-US" dirty="0"/>
              <a:t>These theorems involves replacing what may be a complicated network of sources and linear impedances with a simple equivalent circuit. </a:t>
            </a:r>
          </a:p>
          <a:p>
            <a:pPr>
              <a:buNone/>
            </a:pPr>
            <a:endParaRPr lang="en-US" dirty="0"/>
          </a:p>
          <a:p>
            <a:r>
              <a:rPr lang="en-US" dirty="0"/>
              <a:t>A set procedure may be followed when using each theorem, the procedures themselves requiring a knowledge of basic circuit theory.</a:t>
            </a:r>
          </a:p>
        </p:txBody>
      </p:sp>
      <p:sp>
        <p:nvSpPr>
          <p:cNvPr id="4" name="Slide Number Placeholder 3"/>
          <p:cNvSpPr>
            <a:spLocks noGrp="1"/>
          </p:cNvSpPr>
          <p:nvPr>
            <p:ph type="sldNum" sz="quarter" idx="12"/>
          </p:nvPr>
        </p:nvSpPr>
        <p:spPr/>
        <p:txBody>
          <a:bodyPr/>
          <a:lstStyle/>
          <a:p>
            <a:fld id="{E663B3CF-6C2D-4911-96EF-7D0E630954F6}" type="slidenum">
              <a:rPr lang="en-GB" smtClean="0"/>
              <a:pPr/>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57200"/>
          </a:xfrm>
        </p:spPr>
        <p:txBody>
          <a:bodyPr>
            <a:normAutofit fontScale="90000"/>
          </a:bodyPr>
          <a:lstStyle/>
          <a:p>
            <a:r>
              <a:rPr lang="en-GB" b="1" dirty="0"/>
              <a:t>THEVENIN’S THEOREM</a:t>
            </a:r>
            <a:endParaRPr lang="en-US" b="1" dirty="0"/>
          </a:p>
        </p:txBody>
      </p:sp>
      <p:sp>
        <p:nvSpPr>
          <p:cNvPr id="3" name="Content Placeholder 2"/>
          <p:cNvSpPr>
            <a:spLocks noGrp="1"/>
          </p:cNvSpPr>
          <p:nvPr>
            <p:ph idx="1"/>
          </p:nvPr>
        </p:nvSpPr>
        <p:spPr>
          <a:xfrm>
            <a:off x="228600" y="762000"/>
            <a:ext cx="8458200" cy="5410200"/>
          </a:xfrm>
        </p:spPr>
        <p:txBody>
          <a:bodyPr>
            <a:normAutofit fontScale="92500"/>
          </a:bodyPr>
          <a:lstStyle/>
          <a:p>
            <a:pPr>
              <a:lnSpc>
                <a:spcPct val="150000"/>
              </a:lnSpc>
              <a:buNone/>
            </a:pPr>
            <a:r>
              <a:rPr lang="en-GB" sz="2000" dirty="0"/>
              <a:t>The current through a resistor R connected across any two points A and B of an active network(i.e. A network containing one or more sources of e.m.f.) is obtained by dividing the p.d. between points A and B , with R disconnected, by (R+r), where r is the resistance of the network measured between points A and B  with R disconnected and the sources of e.m.f replaced by their internal resistance.</a:t>
            </a:r>
          </a:p>
          <a:p>
            <a:pPr>
              <a:buNone/>
            </a:pPr>
            <a:endParaRPr lang="en-GB" sz="2000" dirty="0"/>
          </a:p>
          <a:p>
            <a:pPr>
              <a:lnSpc>
                <a:spcPct val="150000"/>
              </a:lnSpc>
              <a:buNone/>
            </a:pPr>
            <a:r>
              <a:rPr lang="en-GB" sz="2000" b="1" dirty="0"/>
              <a:t>THEVENIN’S THEOREM </a:t>
            </a:r>
            <a:r>
              <a:rPr lang="en-GB" sz="2000" dirty="0"/>
              <a:t>states that an active network having two terminals A and B can be replaced by a constant – voltage  source having an e.m.f. E and internal resistance r. The value of E is equal to the open-circuit p.d. Between A and B, and r is the internal resistance of the network measured between A and B with the load disconnected and the sources of emf replaced by their internal resistances. </a:t>
            </a:r>
          </a:p>
          <a:p>
            <a:pPr>
              <a:buNone/>
            </a:pPr>
            <a:endParaRPr lang="en-GB" sz="2000" dirty="0"/>
          </a:p>
          <a:p>
            <a:pPr>
              <a:buNone/>
            </a:pPr>
            <a:endParaRPr lang="en-US" dirty="0"/>
          </a:p>
        </p:txBody>
      </p:sp>
      <p:sp>
        <p:nvSpPr>
          <p:cNvPr id="4" name="Slide Number Placeholder 3"/>
          <p:cNvSpPr>
            <a:spLocks noGrp="1"/>
          </p:cNvSpPr>
          <p:nvPr>
            <p:ph type="sldNum" sz="quarter" idx="12"/>
          </p:nvPr>
        </p:nvSpPr>
        <p:spPr/>
        <p:txBody>
          <a:bodyPr/>
          <a:lstStyle/>
          <a:p>
            <a:fld id="{E663B3CF-6C2D-4911-96EF-7D0E630954F6}" type="slidenum">
              <a:rPr lang="en-GB" smtClean="0"/>
              <a:pPr/>
              <a:t>7</a:t>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fontScale="90000"/>
          </a:bodyPr>
          <a:lstStyle/>
          <a:p>
            <a:r>
              <a:rPr lang="en-US" b="1" dirty="0"/>
              <a:t>THEVENIN EQUIVALENT CIRCUIT</a:t>
            </a:r>
          </a:p>
        </p:txBody>
      </p:sp>
      <p:pic>
        <p:nvPicPr>
          <p:cNvPr id="1026" name="Picture 2"/>
          <p:cNvPicPr>
            <a:picLocks noGrp="1" noChangeAspect="1" noChangeArrowheads="1"/>
          </p:cNvPicPr>
          <p:nvPr>
            <p:ph idx="1"/>
          </p:nvPr>
        </p:nvPicPr>
        <p:blipFill>
          <a:blip r:embed="rId2"/>
          <a:srcRect/>
          <a:stretch>
            <a:fillRect/>
          </a:stretch>
        </p:blipFill>
        <p:spPr bwMode="auto">
          <a:xfrm>
            <a:off x="0" y="762000"/>
            <a:ext cx="9144000" cy="3200400"/>
          </a:xfrm>
          <a:prstGeom prst="rect">
            <a:avLst/>
          </a:prstGeom>
          <a:noFill/>
          <a:ln w="9525">
            <a:noFill/>
            <a:miter lim="800000"/>
            <a:headEnd/>
            <a:tailEnd/>
          </a:ln>
          <a:effectLst/>
        </p:spPr>
      </p:pic>
      <p:sp>
        <p:nvSpPr>
          <p:cNvPr id="4" name="Rectangle 3"/>
          <p:cNvSpPr/>
          <p:nvPr/>
        </p:nvSpPr>
        <p:spPr>
          <a:xfrm>
            <a:off x="304800" y="4343400"/>
            <a:ext cx="8305800" cy="1323439"/>
          </a:xfrm>
          <a:prstGeom prst="rect">
            <a:avLst/>
          </a:prstGeom>
        </p:spPr>
        <p:txBody>
          <a:bodyPr wrap="square">
            <a:spAutoFit/>
          </a:bodyPr>
          <a:lstStyle/>
          <a:p>
            <a:r>
              <a:rPr lang="en-US" sz="2000" dirty="0"/>
              <a:t>The theorem applies to any linear active network </a:t>
            </a:r>
            <a:r>
              <a:rPr lang="en-US" sz="2000" b="1" dirty="0"/>
              <a:t>‘linear’ </a:t>
            </a:r>
            <a:r>
              <a:rPr lang="en-US" sz="2000" dirty="0"/>
              <a:t>meaning that the measured values of circuit components are independent of the direction and magnitude of the current flowing in them, and </a:t>
            </a:r>
            <a:r>
              <a:rPr lang="en-US" sz="2000" b="1" dirty="0"/>
              <a:t>‘active’ </a:t>
            </a:r>
            <a:r>
              <a:rPr lang="en-US" sz="2000" dirty="0"/>
              <a:t>meaning that it contains a source, or sources, of </a:t>
            </a:r>
            <a:r>
              <a:rPr lang="en-US" sz="2000" dirty="0" err="1"/>
              <a:t>e.m.f</a:t>
            </a:r>
            <a:r>
              <a:rPr lang="en-US" sz="2000" dirty="0"/>
              <a:t>.</a:t>
            </a:r>
          </a:p>
        </p:txBody>
      </p:sp>
      <p:sp>
        <p:nvSpPr>
          <p:cNvPr id="3" name="Slide Number Placeholder 2"/>
          <p:cNvSpPr>
            <a:spLocks noGrp="1"/>
          </p:cNvSpPr>
          <p:nvPr>
            <p:ph type="sldNum" sz="quarter" idx="12"/>
          </p:nvPr>
        </p:nvSpPr>
        <p:spPr/>
        <p:txBody>
          <a:bodyPr/>
          <a:lstStyle/>
          <a:p>
            <a:fld id="{E663B3CF-6C2D-4911-96EF-7D0E630954F6}" type="slidenum">
              <a:rPr lang="en-GB" smtClean="0"/>
              <a:pPr/>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762000"/>
          </a:xfrm>
        </p:spPr>
        <p:txBody>
          <a:bodyPr>
            <a:noAutofit/>
          </a:bodyPr>
          <a:lstStyle/>
          <a:p>
            <a:r>
              <a:rPr lang="en-US" sz="2400" b="1" u="sng" dirty="0"/>
              <a:t>STEPS INVOLVED IN APPLYING THEVENINS THEOREM TO A CIRCUIT</a:t>
            </a:r>
          </a:p>
        </p:txBody>
      </p:sp>
      <p:sp>
        <p:nvSpPr>
          <p:cNvPr id="3" name="Content Placeholder 2"/>
          <p:cNvSpPr>
            <a:spLocks noGrp="1"/>
          </p:cNvSpPr>
          <p:nvPr>
            <p:ph idx="1"/>
          </p:nvPr>
        </p:nvSpPr>
        <p:spPr>
          <a:xfrm>
            <a:off x="457200" y="914400"/>
            <a:ext cx="8229600" cy="5211763"/>
          </a:xfrm>
        </p:spPr>
        <p:txBody>
          <a:bodyPr>
            <a:normAutofit fontScale="85000" lnSpcReduction="20000"/>
          </a:bodyPr>
          <a:lstStyle/>
          <a:p>
            <a:pPr>
              <a:buNone/>
            </a:pPr>
            <a:r>
              <a:rPr lang="en-US" dirty="0"/>
              <a:t>The following four-step </a:t>
            </a:r>
            <a:r>
              <a:rPr lang="en-US" b="1" dirty="0"/>
              <a:t>procedure can be adopted </a:t>
            </a:r>
            <a:r>
              <a:rPr lang="en-US" dirty="0"/>
              <a:t>when determining, by means of Thévenin’s theorem, the current flowing in a branch containing impedance </a:t>
            </a:r>
            <a:r>
              <a:rPr lang="en-US" i="1" dirty="0"/>
              <a:t>ZL of</a:t>
            </a:r>
          </a:p>
          <a:p>
            <a:pPr>
              <a:buNone/>
            </a:pPr>
            <a:r>
              <a:rPr lang="en-US" dirty="0"/>
              <a:t>an active network:</a:t>
            </a:r>
          </a:p>
          <a:p>
            <a:pPr>
              <a:buNone/>
            </a:pPr>
            <a:endParaRPr lang="en-US" dirty="0"/>
          </a:p>
          <a:p>
            <a:pPr>
              <a:buNone/>
            </a:pPr>
            <a:r>
              <a:rPr lang="en-US" dirty="0"/>
              <a:t>(</a:t>
            </a:r>
            <a:r>
              <a:rPr lang="en-US" dirty="0" err="1"/>
              <a:t>i</a:t>
            </a:r>
            <a:r>
              <a:rPr lang="en-US" dirty="0"/>
              <a:t>) remove the impedance </a:t>
            </a:r>
            <a:r>
              <a:rPr lang="en-US" i="1" dirty="0"/>
              <a:t>ZL from that branch;</a:t>
            </a:r>
          </a:p>
          <a:p>
            <a:pPr>
              <a:buNone/>
            </a:pPr>
            <a:r>
              <a:rPr lang="en-US" dirty="0"/>
              <a:t>(ii) determine the open-circuit voltage </a:t>
            </a:r>
            <a:r>
              <a:rPr lang="en-US" i="1" dirty="0"/>
              <a:t>E across the </a:t>
            </a:r>
            <a:r>
              <a:rPr lang="en-US" dirty="0"/>
              <a:t>break;</a:t>
            </a:r>
          </a:p>
          <a:p>
            <a:pPr>
              <a:buNone/>
            </a:pPr>
            <a:r>
              <a:rPr lang="en-US" dirty="0"/>
              <a:t>(iii) remove each source of </a:t>
            </a:r>
            <a:r>
              <a:rPr lang="en-US" dirty="0" err="1"/>
              <a:t>e.m.f</a:t>
            </a:r>
            <a:r>
              <a:rPr lang="en-US" dirty="0"/>
              <a:t>. and replace it by its</a:t>
            </a:r>
          </a:p>
          <a:p>
            <a:pPr>
              <a:buNone/>
            </a:pPr>
            <a:r>
              <a:rPr lang="en-US" dirty="0"/>
              <a:t>internal impedance (if it has zero internal impedance</a:t>
            </a:r>
          </a:p>
          <a:p>
            <a:pPr>
              <a:buNone/>
            </a:pPr>
            <a:r>
              <a:rPr lang="en-US" dirty="0"/>
              <a:t>then replace it by a short-circuit), and then determine</a:t>
            </a:r>
          </a:p>
          <a:p>
            <a:pPr>
              <a:buNone/>
            </a:pPr>
            <a:r>
              <a:rPr lang="en-US" dirty="0"/>
              <a:t>the internal impedance, </a:t>
            </a:r>
            <a:r>
              <a:rPr lang="en-US" i="1" dirty="0"/>
              <a:t>z, ‘looking in’ at the break;</a:t>
            </a:r>
          </a:p>
          <a:p>
            <a:pPr>
              <a:buNone/>
            </a:pPr>
            <a:r>
              <a:rPr lang="en-US" dirty="0"/>
              <a:t>(iv) determine the current from the Thévenin equivalent</a:t>
            </a:r>
          </a:p>
          <a:p>
            <a:pPr>
              <a:buNone/>
            </a:pPr>
            <a:r>
              <a:rPr lang="en-US" dirty="0"/>
              <a:t>Circuit.</a:t>
            </a:r>
          </a:p>
        </p:txBody>
      </p:sp>
      <p:sp>
        <p:nvSpPr>
          <p:cNvPr id="4" name="Slide Number Placeholder 3"/>
          <p:cNvSpPr>
            <a:spLocks noGrp="1"/>
          </p:cNvSpPr>
          <p:nvPr>
            <p:ph type="sldNum" sz="quarter" idx="12"/>
          </p:nvPr>
        </p:nvSpPr>
        <p:spPr/>
        <p:txBody>
          <a:bodyPr/>
          <a:lstStyle/>
          <a:p>
            <a:fld id="{E663B3CF-6C2D-4911-96EF-7D0E630954F6}" type="slidenum">
              <a:rPr lang="en-GB" smtClean="0"/>
              <a:pPr/>
              <a:t>9</a:t>
            </a:fld>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NORTONS THEOREM</a:t>
            </a:r>
          </a:p>
        </p:txBody>
      </p:sp>
      <p:sp>
        <p:nvSpPr>
          <p:cNvPr id="3" name="Content Placeholder 2"/>
          <p:cNvSpPr>
            <a:spLocks noGrp="1"/>
          </p:cNvSpPr>
          <p:nvPr>
            <p:ph idx="1"/>
          </p:nvPr>
        </p:nvSpPr>
        <p:spPr>
          <a:xfrm>
            <a:off x="381000" y="838200"/>
            <a:ext cx="8305800" cy="5287963"/>
          </a:xfrm>
        </p:spPr>
        <p:txBody>
          <a:bodyPr>
            <a:normAutofit fontScale="85000" lnSpcReduction="10000"/>
          </a:bodyPr>
          <a:lstStyle/>
          <a:p>
            <a:pPr>
              <a:buNone/>
            </a:pPr>
            <a:r>
              <a:rPr lang="en-US" dirty="0"/>
              <a:t>	When a branch in a circuit is open- circuited the remainder of the cct. can be represented by one source of </a:t>
            </a:r>
            <a:r>
              <a:rPr lang="en-US" dirty="0" err="1"/>
              <a:t>e.m.f</a:t>
            </a:r>
            <a:r>
              <a:rPr lang="en-US" dirty="0"/>
              <a:t> in series with a resistor(THEVENINS EQUIVALENT).</a:t>
            </a:r>
          </a:p>
          <a:p>
            <a:pPr>
              <a:buNone/>
            </a:pPr>
            <a:endParaRPr lang="en-US" dirty="0"/>
          </a:p>
          <a:p>
            <a:pPr>
              <a:buNone/>
            </a:pPr>
            <a:r>
              <a:rPr lang="en-US" dirty="0"/>
              <a:t>The current that flows in any branch of a network is the</a:t>
            </a:r>
          </a:p>
          <a:p>
            <a:pPr>
              <a:buNone/>
            </a:pPr>
            <a:r>
              <a:rPr lang="en-US" dirty="0"/>
              <a:t>same as that which would flow in the branch if it were</a:t>
            </a:r>
          </a:p>
          <a:p>
            <a:pPr>
              <a:buNone/>
            </a:pPr>
            <a:r>
              <a:rPr lang="en-US" dirty="0"/>
              <a:t>connected across a source of electrical energy, the short-circuit current of which is equal to the current that would flow in a short-circuit across the branch, and the internal impedance of which is equal to the impedance which appears across the open-circuited branch terminals.</a:t>
            </a:r>
          </a:p>
        </p:txBody>
      </p:sp>
      <p:sp>
        <p:nvSpPr>
          <p:cNvPr id="4" name="Slide Number Placeholder 3"/>
          <p:cNvSpPr>
            <a:spLocks noGrp="1"/>
          </p:cNvSpPr>
          <p:nvPr>
            <p:ph type="sldNum" sz="quarter" idx="12"/>
          </p:nvPr>
        </p:nvSpPr>
        <p:spPr/>
        <p:txBody>
          <a:bodyPr/>
          <a:lstStyle/>
          <a:p>
            <a:fld id="{E663B3CF-6C2D-4911-96EF-7D0E630954F6}" type="slidenum">
              <a:rPr lang="en-GB" smtClean="0"/>
              <a:pPr/>
              <a:t>10</a:t>
            </a:fld>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b="1" dirty="0"/>
              <a:t>NORTON’S THEOREM</a:t>
            </a:r>
          </a:p>
        </p:txBody>
      </p:sp>
      <p:sp>
        <p:nvSpPr>
          <p:cNvPr id="3" name="Content Placeholder 2"/>
          <p:cNvSpPr>
            <a:spLocks noGrp="1"/>
          </p:cNvSpPr>
          <p:nvPr>
            <p:ph idx="1"/>
          </p:nvPr>
        </p:nvSpPr>
        <p:spPr>
          <a:xfrm>
            <a:off x="457200" y="914400"/>
            <a:ext cx="8229600" cy="5211763"/>
          </a:xfrm>
        </p:spPr>
        <p:txBody>
          <a:bodyPr/>
          <a:lstStyle/>
          <a:p>
            <a:pPr>
              <a:buNone/>
            </a:pPr>
            <a:endParaRPr lang="en-US" dirty="0"/>
          </a:p>
        </p:txBody>
      </p:sp>
      <p:pic>
        <p:nvPicPr>
          <p:cNvPr id="2050" name="Picture 2"/>
          <p:cNvPicPr>
            <a:picLocks noChangeAspect="1" noChangeArrowheads="1"/>
          </p:cNvPicPr>
          <p:nvPr/>
        </p:nvPicPr>
        <p:blipFill>
          <a:blip r:embed="rId3"/>
          <a:srcRect/>
          <a:stretch>
            <a:fillRect/>
          </a:stretch>
        </p:blipFill>
        <p:spPr bwMode="auto">
          <a:xfrm>
            <a:off x="202507" y="914400"/>
            <a:ext cx="8636693" cy="52578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E663B3CF-6C2D-4911-96EF-7D0E630954F6}" type="slidenum">
              <a:rPr lang="en-GB" smtClean="0"/>
              <a:pPr/>
              <a:t>11</a:t>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305800" cy="411162"/>
          </a:xfrm>
        </p:spPr>
        <p:txBody>
          <a:bodyPr>
            <a:noAutofit/>
          </a:bodyPr>
          <a:lstStyle/>
          <a:p>
            <a:r>
              <a:rPr lang="en-US" sz="2800" b="1" dirty="0"/>
              <a:t>STEPS INVOLVED IN APPLYING NORTONS THEOREM IN CIRCUITS</a:t>
            </a:r>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pPr>
              <a:buNone/>
            </a:pPr>
            <a:r>
              <a:rPr lang="en-US" dirty="0"/>
              <a:t>The following four-step procedure may be adopted</a:t>
            </a:r>
          </a:p>
          <a:p>
            <a:pPr>
              <a:buNone/>
            </a:pPr>
            <a:r>
              <a:rPr lang="en-US" dirty="0"/>
              <a:t>when determining the current flowing in an impedance </a:t>
            </a:r>
            <a:r>
              <a:rPr lang="en-US" i="1" dirty="0"/>
              <a:t>ZL of a branch AB of an active network, using Norton’s </a:t>
            </a:r>
            <a:r>
              <a:rPr lang="en-US" dirty="0"/>
              <a:t>theorem:</a:t>
            </a:r>
          </a:p>
          <a:p>
            <a:pPr>
              <a:buNone/>
            </a:pPr>
            <a:endParaRPr lang="en-US" dirty="0"/>
          </a:p>
          <a:p>
            <a:pPr>
              <a:buNone/>
            </a:pPr>
            <a:r>
              <a:rPr lang="en-US" dirty="0"/>
              <a:t>(</a:t>
            </a:r>
            <a:r>
              <a:rPr lang="en-US" dirty="0" err="1"/>
              <a:t>i</a:t>
            </a:r>
            <a:r>
              <a:rPr lang="en-US" dirty="0"/>
              <a:t>) short-circuit branch AB;</a:t>
            </a:r>
          </a:p>
          <a:p>
            <a:pPr>
              <a:buNone/>
            </a:pPr>
            <a:r>
              <a:rPr lang="en-US" dirty="0"/>
              <a:t>(ii) determine the short-circuit current ISC;</a:t>
            </a:r>
          </a:p>
          <a:p>
            <a:pPr>
              <a:buNone/>
            </a:pPr>
            <a:endParaRPr lang="en-US" dirty="0"/>
          </a:p>
          <a:p>
            <a:pPr>
              <a:buNone/>
            </a:pPr>
            <a:r>
              <a:rPr lang="en-US" dirty="0"/>
              <a:t>(iii) remove each source of </a:t>
            </a:r>
            <a:r>
              <a:rPr lang="en-US" dirty="0" err="1"/>
              <a:t>e.m.f</a:t>
            </a:r>
            <a:r>
              <a:rPr lang="en-US" dirty="0"/>
              <a:t>. and replace it by its internal impedance (or, if a current source exists, replace with an open circuit), then determine the impedance, z, ‘looking in’ at a break made between A and B;</a:t>
            </a:r>
          </a:p>
          <a:p>
            <a:pPr>
              <a:buNone/>
            </a:pPr>
            <a:endParaRPr lang="en-US" dirty="0"/>
          </a:p>
          <a:p>
            <a:pPr>
              <a:buNone/>
            </a:pPr>
            <a:r>
              <a:rPr lang="en-US" dirty="0"/>
              <a:t>(iv) determine the value of the current </a:t>
            </a:r>
            <a:r>
              <a:rPr lang="en-US" dirty="0" err="1"/>
              <a:t>iL</a:t>
            </a:r>
            <a:r>
              <a:rPr lang="en-US" dirty="0"/>
              <a:t> flowing in</a:t>
            </a:r>
          </a:p>
          <a:p>
            <a:pPr>
              <a:buNone/>
            </a:pPr>
            <a:r>
              <a:rPr lang="en-US" dirty="0"/>
              <a:t>impedance ZL from the Norton equivalent network</a:t>
            </a:r>
          </a:p>
        </p:txBody>
      </p:sp>
      <p:sp>
        <p:nvSpPr>
          <p:cNvPr id="4" name="Slide Number Placeholder 3"/>
          <p:cNvSpPr>
            <a:spLocks noGrp="1"/>
          </p:cNvSpPr>
          <p:nvPr>
            <p:ph type="sldNum" sz="quarter" idx="12"/>
          </p:nvPr>
        </p:nvSpPr>
        <p:spPr/>
        <p:txBody>
          <a:bodyPr/>
          <a:lstStyle/>
          <a:p>
            <a:fld id="{E663B3CF-6C2D-4911-96EF-7D0E630954F6}" type="slidenum">
              <a:rPr lang="en-GB" smtClean="0"/>
              <a:pPr/>
              <a:t>12</a:t>
            </a:fld>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WORKED EXAMPLE</a:t>
            </a:r>
            <a:br>
              <a:rPr lang="en-US" dirty="0"/>
            </a:br>
            <a:endParaRPr lang="en-US" dirty="0"/>
          </a:p>
        </p:txBody>
      </p:sp>
      <p:graphicFrame>
        <p:nvGraphicFramePr>
          <p:cNvPr id="1028" name="Object 4"/>
          <p:cNvGraphicFramePr>
            <a:graphicFrameLocks noGrp="1" noChangeAspect="1"/>
          </p:cNvGraphicFramePr>
          <p:nvPr>
            <p:ph idx="1"/>
          </p:nvPr>
        </p:nvGraphicFramePr>
        <p:xfrm>
          <a:off x="990600" y="838200"/>
          <a:ext cx="7315200" cy="2209800"/>
        </p:xfrm>
        <a:graphic>
          <a:graphicData uri="http://schemas.openxmlformats.org/presentationml/2006/ole">
            <mc:AlternateContent xmlns:mc="http://schemas.openxmlformats.org/markup-compatibility/2006">
              <mc:Choice xmlns:v="urn:schemas-microsoft-com:vml" Requires="v">
                <p:oleObj name="SmartDraw" r:id="rId2" imgW="3396960" imgH="1572480" progId="">
                  <p:embed/>
                </p:oleObj>
              </mc:Choice>
              <mc:Fallback>
                <p:oleObj name="SmartDraw" r:id="rId2" imgW="3396960" imgH="1572480"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838200"/>
                        <a:ext cx="73152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6"/>
          <p:cNvSpPr/>
          <p:nvPr/>
        </p:nvSpPr>
        <p:spPr>
          <a:xfrm>
            <a:off x="685800" y="5029200"/>
            <a:ext cx="8153400" cy="646331"/>
          </a:xfrm>
          <a:prstGeom prst="rect">
            <a:avLst/>
          </a:prstGeom>
        </p:spPr>
        <p:txBody>
          <a:bodyPr wrap="square">
            <a:spAutoFit/>
          </a:bodyPr>
          <a:lstStyle/>
          <a:p>
            <a:r>
              <a:rPr lang="en-US" dirty="0"/>
              <a:t>Notice that there is no current flowing in the 4 </a:t>
            </a:r>
            <a:r>
              <a:rPr lang="en-US" dirty="0">
                <a:sym typeface="Symbol" pitchFamily="18" charset="2"/>
              </a:rPr>
              <a:t> resistor (A-B) is open.  Thus there can be no voltage across the resistor.</a:t>
            </a:r>
            <a:endParaRPr lang="en-US" dirty="0"/>
          </a:p>
        </p:txBody>
      </p:sp>
      <p:graphicFrame>
        <p:nvGraphicFramePr>
          <p:cNvPr id="1029" name="Object 5"/>
          <p:cNvGraphicFramePr>
            <a:graphicFrameLocks noChangeAspect="1"/>
          </p:cNvGraphicFramePr>
          <p:nvPr/>
        </p:nvGraphicFramePr>
        <p:xfrm>
          <a:off x="1752600" y="3810000"/>
          <a:ext cx="5257800" cy="1125538"/>
        </p:xfrm>
        <a:graphic>
          <a:graphicData uri="http://schemas.openxmlformats.org/presentationml/2006/ole">
            <mc:AlternateContent xmlns:mc="http://schemas.openxmlformats.org/markup-compatibility/2006">
              <mc:Choice xmlns:v="urn:schemas-microsoft-com:vml" Requires="v">
                <p:oleObj name="Equation" r:id="rId4" imgW="1346040" imgH="419040" progId="">
                  <p:embed/>
                </p:oleObj>
              </mc:Choice>
              <mc:Fallback>
                <p:oleObj name="Equation" r:id="rId4" imgW="1346040" imgH="419040" progId="">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3810000"/>
                        <a:ext cx="5257800" cy="1125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Slide Number Placeholder 2"/>
          <p:cNvSpPr>
            <a:spLocks noGrp="1"/>
          </p:cNvSpPr>
          <p:nvPr>
            <p:ph type="sldNum" sz="quarter" idx="12"/>
          </p:nvPr>
        </p:nvSpPr>
        <p:spPr/>
        <p:txBody>
          <a:bodyPr/>
          <a:lstStyle/>
          <a:p>
            <a:fld id="{E663B3CF-6C2D-4911-96EF-7D0E630954F6}" type="slidenum">
              <a:rPr lang="en-GB" smtClean="0"/>
              <a:pPr/>
              <a:t>13</a:t>
            </a:fld>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563562"/>
          </a:xfrm>
        </p:spPr>
        <p:txBody>
          <a:bodyPr>
            <a:normAutofit fontScale="90000"/>
          </a:bodyPr>
          <a:lstStyle/>
          <a:p>
            <a:br>
              <a:rPr lang="en-US" sz="2200" dirty="0"/>
            </a:br>
            <a:br>
              <a:rPr lang="en-US" sz="2200" dirty="0"/>
            </a:br>
            <a:r>
              <a:rPr lang="en-US" sz="2200" dirty="0"/>
              <a:t>We now deactivate the sources to the left of A-B and find the resistance seen looking in these terminals.</a:t>
            </a:r>
            <a:br>
              <a:rPr lang="en-US" dirty="0"/>
            </a:br>
            <a:endParaRPr lang="en-US" dirty="0"/>
          </a:p>
        </p:txBody>
      </p:sp>
      <p:graphicFrame>
        <p:nvGraphicFramePr>
          <p:cNvPr id="2050" name="Object 2"/>
          <p:cNvGraphicFramePr>
            <a:graphicFrameLocks noGrp="1" noChangeAspect="1"/>
          </p:cNvGraphicFramePr>
          <p:nvPr>
            <p:ph idx="1"/>
          </p:nvPr>
        </p:nvGraphicFramePr>
        <p:xfrm>
          <a:off x="914400" y="1600200"/>
          <a:ext cx="6629400" cy="1878013"/>
        </p:xfrm>
        <a:graphic>
          <a:graphicData uri="http://schemas.openxmlformats.org/presentationml/2006/ole">
            <mc:AlternateContent xmlns:mc="http://schemas.openxmlformats.org/markup-compatibility/2006">
              <mc:Choice xmlns:v="urn:schemas-microsoft-com:vml" Requires="v">
                <p:oleObj name="SmartDraw" r:id="rId2" imgW="2829960" imgH="1572480" progId="">
                  <p:embed/>
                </p:oleObj>
              </mc:Choice>
              <mc:Fallback>
                <p:oleObj name="SmartDraw" r:id="rId2" imgW="2829960" imgH="157248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00200"/>
                        <a:ext cx="6629400" cy="187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4"/>
          <p:cNvSpPr/>
          <p:nvPr/>
        </p:nvSpPr>
        <p:spPr>
          <a:xfrm>
            <a:off x="2286000" y="3581400"/>
            <a:ext cx="4038600" cy="369332"/>
          </a:xfrm>
          <a:prstGeom prst="rect">
            <a:avLst/>
          </a:prstGeom>
        </p:spPr>
        <p:txBody>
          <a:bodyPr wrap="square">
            <a:spAutoFit/>
          </a:bodyPr>
          <a:lstStyle/>
          <a:p>
            <a:r>
              <a:rPr lang="en-US" dirty="0"/>
              <a:t>R</a:t>
            </a:r>
            <a:r>
              <a:rPr lang="en-US" baseline="-25000" dirty="0"/>
              <a:t>TH</a:t>
            </a:r>
            <a:r>
              <a:rPr lang="en-US" dirty="0"/>
              <a:t> =  12||6  +  4   =   8 </a:t>
            </a:r>
            <a:r>
              <a:rPr lang="en-US" dirty="0">
                <a:sym typeface="Symbol" pitchFamily="18" charset="2"/>
              </a:rPr>
              <a:t></a:t>
            </a:r>
            <a:endParaRPr lang="en-US" dirty="0"/>
          </a:p>
        </p:txBody>
      </p:sp>
      <p:graphicFrame>
        <p:nvGraphicFramePr>
          <p:cNvPr id="2051" name="Object 3"/>
          <p:cNvGraphicFramePr>
            <a:graphicFrameLocks noChangeAspect="1"/>
          </p:cNvGraphicFramePr>
          <p:nvPr/>
        </p:nvGraphicFramePr>
        <p:xfrm>
          <a:off x="914400" y="4267200"/>
          <a:ext cx="7162800" cy="2241550"/>
        </p:xfrm>
        <a:graphic>
          <a:graphicData uri="http://schemas.openxmlformats.org/presentationml/2006/ole">
            <mc:AlternateContent xmlns:mc="http://schemas.openxmlformats.org/markup-compatibility/2006">
              <mc:Choice xmlns:v="urn:schemas-microsoft-com:vml" Requires="v">
                <p:oleObj name="SmartDraw" r:id="rId4" imgW="3117960" imgH="1819440" progId="">
                  <p:embed/>
                </p:oleObj>
              </mc:Choice>
              <mc:Fallback>
                <p:oleObj name="SmartDraw" r:id="rId4" imgW="3117960" imgH="1819440" progId="">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267200"/>
                        <a:ext cx="7162800" cy="224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Slide Number Placeholder 2"/>
          <p:cNvSpPr>
            <a:spLocks noGrp="1"/>
          </p:cNvSpPr>
          <p:nvPr>
            <p:ph type="sldNum" sz="quarter" idx="12"/>
          </p:nvPr>
        </p:nvSpPr>
        <p:spPr/>
        <p:txBody>
          <a:bodyPr/>
          <a:lstStyle/>
          <a:p>
            <a:fld id="{E663B3CF-6C2D-4911-96EF-7D0E630954F6}" type="slidenum">
              <a:rPr lang="en-GB" smtClean="0"/>
              <a:pPr/>
              <a:t>14</a:t>
            </a:fld>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sz="4000" b="1" dirty="0"/>
              <a:t>Note that Ix= 10/2+8=1A</a:t>
            </a:r>
          </a:p>
        </p:txBody>
      </p:sp>
      <p:graphicFrame>
        <p:nvGraphicFramePr>
          <p:cNvPr id="3074" name="Object 2"/>
          <p:cNvGraphicFramePr>
            <a:graphicFrameLocks noChangeAspect="1"/>
          </p:cNvGraphicFramePr>
          <p:nvPr/>
        </p:nvGraphicFramePr>
        <p:xfrm>
          <a:off x="1905000" y="2667000"/>
          <a:ext cx="4724400" cy="1520825"/>
        </p:xfrm>
        <a:graphic>
          <a:graphicData uri="http://schemas.openxmlformats.org/presentationml/2006/ole">
            <mc:AlternateContent xmlns:mc="http://schemas.openxmlformats.org/markup-compatibility/2006">
              <mc:Choice xmlns:v="urn:schemas-microsoft-com:vml" Requires="v">
                <p:oleObj name="Equation" r:id="rId2" imgW="1180800" imgH="419040" progId="">
                  <p:embed/>
                </p:oleObj>
              </mc:Choice>
              <mc:Fallback>
                <p:oleObj name="Equation" r:id="rId2" imgW="1180800" imgH="41904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667000"/>
                        <a:ext cx="4724400" cy="1520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Slide Number Placeholder 3"/>
          <p:cNvSpPr>
            <a:spLocks noGrp="1"/>
          </p:cNvSpPr>
          <p:nvPr>
            <p:ph type="sldNum" sz="quarter" idx="12"/>
          </p:nvPr>
        </p:nvSpPr>
        <p:spPr/>
        <p:txBody>
          <a:bodyPr/>
          <a:lstStyle/>
          <a:p>
            <a:fld id="{E663B3CF-6C2D-4911-96EF-7D0E630954F6}" type="slidenum">
              <a:rPr lang="en-GB" smtClean="0"/>
              <a:pPr/>
              <a:t>15</a:t>
            </a:fld>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EXAMPLE 2</a:t>
            </a:r>
          </a:p>
        </p:txBody>
      </p:sp>
      <p:pic>
        <p:nvPicPr>
          <p:cNvPr id="5" name="Content Placeholder 4"/>
          <p:cNvPicPr>
            <a:picLocks noGrp="1" noChangeAspect="1"/>
          </p:cNvPicPr>
          <p:nvPr>
            <p:ph idx="1"/>
          </p:nvPr>
        </p:nvPicPr>
        <p:blipFill>
          <a:blip r:embed="rId2"/>
          <a:stretch>
            <a:fillRect/>
          </a:stretch>
        </p:blipFill>
        <p:spPr>
          <a:xfrm>
            <a:off x="1143000" y="1600200"/>
            <a:ext cx="5238750" cy="2809875"/>
          </a:xfrm>
          <a:prstGeom prst="rect">
            <a:avLst/>
          </a:prstGeom>
        </p:spPr>
      </p:pic>
      <p:sp>
        <p:nvSpPr>
          <p:cNvPr id="4" name="Slide Number Placeholder 3"/>
          <p:cNvSpPr>
            <a:spLocks noGrp="1"/>
          </p:cNvSpPr>
          <p:nvPr>
            <p:ph type="sldNum" sz="quarter" idx="12"/>
          </p:nvPr>
        </p:nvSpPr>
        <p:spPr/>
        <p:txBody>
          <a:bodyPr/>
          <a:lstStyle/>
          <a:p>
            <a:fld id="{E663B3CF-6C2D-4911-96EF-7D0E630954F6}" type="slidenum">
              <a:rPr lang="en-GB" smtClean="0"/>
              <a:pPr/>
              <a:t>16</a:t>
            </a:fld>
            <a:endParaRPr lang="en-GB"/>
          </a:p>
        </p:txBody>
      </p:sp>
      <p:pic>
        <p:nvPicPr>
          <p:cNvPr id="6" name="Picture 5"/>
          <p:cNvPicPr>
            <a:picLocks noChangeAspect="1"/>
          </p:cNvPicPr>
          <p:nvPr/>
        </p:nvPicPr>
        <p:blipFill>
          <a:blip r:embed="rId3"/>
          <a:stretch>
            <a:fillRect/>
          </a:stretch>
        </p:blipFill>
        <p:spPr>
          <a:xfrm>
            <a:off x="1071505" y="4410075"/>
            <a:ext cx="6838950" cy="1914525"/>
          </a:xfrm>
          <a:prstGeom prst="rect">
            <a:avLst/>
          </a:prstGeom>
        </p:spPr>
      </p:pic>
    </p:spTree>
    <p:extLst>
      <p:ext uri="{BB962C8B-B14F-4D97-AF65-F5344CB8AC3E}">
        <p14:creationId xmlns:p14="http://schemas.microsoft.com/office/powerpoint/2010/main" val="2573492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663B3CF-6C2D-4911-96EF-7D0E630954F6}" type="slidenum">
              <a:rPr lang="en-GB" smtClean="0"/>
              <a:pPr/>
              <a:t>17</a:t>
            </a:fld>
            <a:endParaRPr lang="en-GB"/>
          </a:p>
        </p:txBody>
      </p:sp>
      <p:pic>
        <p:nvPicPr>
          <p:cNvPr id="6" name="Content Placeholder 5"/>
          <p:cNvPicPr>
            <a:picLocks noGrp="1" noChangeAspect="1"/>
          </p:cNvPicPr>
          <p:nvPr>
            <p:ph idx="4294967295"/>
          </p:nvPr>
        </p:nvPicPr>
        <p:blipFill>
          <a:blip r:embed="rId2"/>
          <a:stretch>
            <a:fillRect/>
          </a:stretch>
        </p:blipFill>
        <p:spPr>
          <a:xfrm>
            <a:off x="-76200" y="228600"/>
            <a:ext cx="4829175" cy="2609850"/>
          </a:xfrm>
          <a:prstGeom prst="rect">
            <a:avLst/>
          </a:prstGeom>
        </p:spPr>
      </p:pic>
      <p:sp>
        <p:nvSpPr>
          <p:cNvPr id="8" name="Rectangle 7"/>
          <p:cNvSpPr/>
          <p:nvPr/>
        </p:nvSpPr>
        <p:spPr>
          <a:xfrm>
            <a:off x="4343400" y="533400"/>
            <a:ext cx="4572000" cy="1477328"/>
          </a:xfrm>
          <a:prstGeom prst="rect">
            <a:avLst/>
          </a:prstGeom>
        </p:spPr>
        <p:txBody>
          <a:bodyPr>
            <a:spAutoFit/>
          </a:bodyPr>
          <a:lstStyle/>
          <a:p>
            <a:r>
              <a:rPr lang="en-US" dirty="0"/>
              <a:t>With the load resistance removed and the voltage sources shorted, the equivalent resistance of the circuit is calculated as follows:</a:t>
            </a:r>
          </a:p>
          <a:p>
            <a:r>
              <a:rPr lang="en-US" dirty="0"/>
              <a:t>The resistor 10 Ω is parallel to 20 Ω, therefore the equivalent resistance of the circuit is:</a:t>
            </a:r>
          </a:p>
        </p:txBody>
      </p:sp>
      <p:pic>
        <p:nvPicPr>
          <p:cNvPr id="9" name="Picture 8"/>
          <p:cNvPicPr>
            <a:picLocks noChangeAspect="1"/>
          </p:cNvPicPr>
          <p:nvPr/>
        </p:nvPicPr>
        <p:blipFill>
          <a:blip r:embed="rId3"/>
          <a:stretch>
            <a:fillRect/>
          </a:stretch>
        </p:blipFill>
        <p:spPr>
          <a:xfrm>
            <a:off x="533400" y="2838450"/>
            <a:ext cx="3476625" cy="762000"/>
          </a:xfrm>
          <a:prstGeom prst="rect">
            <a:avLst/>
          </a:prstGeom>
        </p:spPr>
      </p:pic>
      <p:pic>
        <p:nvPicPr>
          <p:cNvPr id="10" name="Picture 9"/>
          <p:cNvPicPr>
            <a:picLocks noChangeAspect="1"/>
          </p:cNvPicPr>
          <p:nvPr/>
        </p:nvPicPr>
        <p:blipFill>
          <a:blip r:embed="rId4"/>
          <a:stretch>
            <a:fillRect/>
          </a:stretch>
        </p:blipFill>
        <p:spPr>
          <a:xfrm>
            <a:off x="2044788" y="3788116"/>
            <a:ext cx="5200650" cy="2775584"/>
          </a:xfrm>
          <a:prstGeom prst="rect">
            <a:avLst/>
          </a:prstGeom>
        </p:spPr>
      </p:pic>
      <p:sp>
        <p:nvSpPr>
          <p:cNvPr id="11" name="Rectangle 10"/>
          <p:cNvSpPr/>
          <p:nvPr/>
        </p:nvSpPr>
        <p:spPr>
          <a:xfrm>
            <a:off x="1143000" y="3752044"/>
            <a:ext cx="3502113" cy="369332"/>
          </a:xfrm>
          <a:prstGeom prst="rect">
            <a:avLst/>
          </a:prstGeom>
        </p:spPr>
        <p:txBody>
          <a:bodyPr wrap="none">
            <a:spAutoFit/>
          </a:bodyPr>
          <a:lstStyle/>
          <a:p>
            <a:r>
              <a:rPr lang="en-US" b="1" dirty="0"/>
              <a:t>Step 4: </a:t>
            </a:r>
            <a:r>
              <a:rPr lang="en-US" dirty="0"/>
              <a:t>Find the equivalent voltage.</a:t>
            </a:r>
          </a:p>
        </p:txBody>
      </p:sp>
    </p:spTree>
    <p:extLst>
      <p:ext uri="{BB962C8B-B14F-4D97-AF65-F5344CB8AC3E}">
        <p14:creationId xmlns:p14="http://schemas.microsoft.com/office/powerpoint/2010/main" val="4247886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663B3CF-6C2D-4911-96EF-7D0E630954F6}" type="slidenum">
              <a:rPr lang="en-GB" smtClean="0"/>
              <a:pPr/>
              <a:t>18</a:t>
            </a:fld>
            <a:endParaRPr lang="en-GB"/>
          </a:p>
        </p:txBody>
      </p:sp>
      <p:sp>
        <p:nvSpPr>
          <p:cNvPr id="4" name="Rectangle 3"/>
          <p:cNvSpPr/>
          <p:nvPr/>
        </p:nvSpPr>
        <p:spPr>
          <a:xfrm>
            <a:off x="457200" y="304800"/>
            <a:ext cx="7848600" cy="923330"/>
          </a:xfrm>
          <a:prstGeom prst="rect">
            <a:avLst/>
          </a:prstGeom>
        </p:spPr>
        <p:txBody>
          <a:bodyPr wrap="square">
            <a:spAutoFit/>
          </a:bodyPr>
          <a:lstStyle/>
          <a:p>
            <a:r>
              <a:rPr lang="en-US" dirty="0"/>
              <a:t>To calculate the equivalent voltage, reconnect the voltage sources back into the circuit. V</a:t>
            </a:r>
            <a:r>
              <a:rPr lang="en-US" baseline="-25000" dirty="0"/>
              <a:t>s</a:t>
            </a:r>
            <a:r>
              <a:rPr lang="en-US" dirty="0"/>
              <a:t> = V</a:t>
            </a:r>
            <a:r>
              <a:rPr lang="en-US" baseline="-25000" dirty="0"/>
              <a:t>AB</a:t>
            </a:r>
            <a:r>
              <a:rPr lang="en-US" dirty="0"/>
              <a:t>, therefore the current flowing around the loop is calculated as follows:</a:t>
            </a:r>
          </a:p>
        </p:txBody>
      </p:sp>
      <p:pic>
        <p:nvPicPr>
          <p:cNvPr id="5" name="Picture 4"/>
          <p:cNvPicPr>
            <a:picLocks noChangeAspect="1"/>
          </p:cNvPicPr>
          <p:nvPr/>
        </p:nvPicPr>
        <p:blipFill>
          <a:blip r:embed="rId2"/>
          <a:stretch>
            <a:fillRect/>
          </a:stretch>
        </p:blipFill>
        <p:spPr>
          <a:xfrm>
            <a:off x="1219200" y="1228130"/>
            <a:ext cx="4724400" cy="800695"/>
          </a:xfrm>
          <a:prstGeom prst="rect">
            <a:avLst/>
          </a:prstGeom>
        </p:spPr>
      </p:pic>
      <p:sp>
        <p:nvSpPr>
          <p:cNvPr id="6" name="Rectangle 5"/>
          <p:cNvSpPr/>
          <p:nvPr/>
        </p:nvSpPr>
        <p:spPr>
          <a:xfrm>
            <a:off x="381000" y="2028825"/>
            <a:ext cx="8305800" cy="1754326"/>
          </a:xfrm>
          <a:prstGeom prst="rect">
            <a:avLst/>
          </a:prstGeom>
        </p:spPr>
        <p:txBody>
          <a:bodyPr wrap="square">
            <a:spAutoFit/>
          </a:bodyPr>
          <a:lstStyle/>
          <a:p>
            <a:r>
              <a:rPr lang="en-US" dirty="0"/>
              <a:t>The calculated current is common to both resistors, so the voltage drop across the resistors can be calculated as follows:</a:t>
            </a:r>
          </a:p>
          <a:p>
            <a:r>
              <a:rPr lang="en-US" dirty="0"/>
              <a:t>V</a:t>
            </a:r>
            <a:r>
              <a:rPr lang="en-US" baseline="-25000" dirty="0"/>
              <a:t>AB</a:t>
            </a:r>
            <a:r>
              <a:rPr lang="en-US" dirty="0"/>
              <a:t> = 20 – (20 Ω x 0.33 A) = 13.33 V</a:t>
            </a:r>
          </a:p>
          <a:p>
            <a:r>
              <a:rPr lang="en-US" dirty="0"/>
              <a:t>or,</a:t>
            </a:r>
          </a:p>
          <a:p>
            <a:r>
              <a:rPr lang="en-US" dirty="0"/>
              <a:t>V</a:t>
            </a:r>
            <a:r>
              <a:rPr lang="en-US" baseline="-25000" dirty="0"/>
              <a:t>AB</a:t>
            </a:r>
            <a:r>
              <a:rPr lang="en-US" dirty="0"/>
              <a:t> = 10 + (10 Ω x 0.33 A) = 13.33 V</a:t>
            </a:r>
          </a:p>
          <a:p>
            <a:r>
              <a:rPr lang="en-US" dirty="0"/>
              <a:t>The voltage drop across both resistors is the same.</a:t>
            </a:r>
          </a:p>
        </p:txBody>
      </p:sp>
      <p:sp>
        <p:nvSpPr>
          <p:cNvPr id="7" name="Rectangle 6"/>
          <p:cNvSpPr/>
          <p:nvPr/>
        </p:nvSpPr>
        <p:spPr>
          <a:xfrm>
            <a:off x="304800" y="4275177"/>
            <a:ext cx="3373916" cy="1477328"/>
          </a:xfrm>
          <a:prstGeom prst="rect">
            <a:avLst/>
          </a:prstGeom>
        </p:spPr>
        <p:txBody>
          <a:bodyPr wrap="square">
            <a:spAutoFit/>
          </a:bodyPr>
          <a:lstStyle/>
          <a:p>
            <a:r>
              <a:rPr lang="en-US" b="1" dirty="0"/>
              <a:t>Step 5: </a:t>
            </a:r>
            <a:r>
              <a:rPr lang="en-US" dirty="0"/>
              <a:t>Draw the </a:t>
            </a:r>
            <a:r>
              <a:rPr lang="en-US" dirty="0" err="1"/>
              <a:t>Thevenin’s</a:t>
            </a:r>
            <a:r>
              <a:rPr lang="en-US" dirty="0"/>
              <a:t> equivalent circuit. The </a:t>
            </a:r>
            <a:r>
              <a:rPr lang="en-US" dirty="0" err="1"/>
              <a:t>Thevenin’s</a:t>
            </a:r>
            <a:r>
              <a:rPr lang="en-US" dirty="0"/>
              <a:t> equivalent circuit consists of a series resistance of 6.67 Ω and a voltage source of 13.33 V.</a:t>
            </a:r>
          </a:p>
        </p:txBody>
      </p:sp>
      <p:pic>
        <p:nvPicPr>
          <p:cNvPr id="8" name="Picture 7"/>
          <p:cNvPicPr>
            <a:picLocks noChangeAspect="1"/>
          </p:cNvPicPr>
          <p:nvPr/>
        </p:nvPicPr>
        <p:blipFill>
          <a:blip r:embed="rId3"/>
          <a:stretch>
            <a:fillRect/>
          </a:stretch>
        </p:blipFill>
        <p:spPr>
          <a:xfrm>
            <a:off x="4038600" y="4073864"/>
            <a:ext cx="4288316" cy="2495550"/>
          </a:xfrm>
          <a:prstGeom prst="rect">
            <a:avLst/>
          </a:prstGeom>
        </p:spPr>
      </p:pic>
    </p:spTree>
    <p:extLst>
      <p:ext uri="{BB962C8B-B14F-4D97-AF65-F5344CB8AC3E}">
        <p14:creationId xmlns:p14="http://schemas.microsoft.com/office/powerpoint/2010/main" val="2783926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663B3CF-6C2D-4911-96EF-7D0E630954F6}" type="slidenum">
              <a:rPr lang="en-GB" smtClean="0"/>
              <a:pPr/>
              <a:t>19</a:t>
            </a:fld>
            <a:endParaRPr lang="en-GB"/>
          </a:p>
        </p:txBody>
      </p:sp>
      <p:sp>
        <p:nvSpPr>
          <p:cNvPr id="4" name="Rectangle 3"/>
          <p:cNvSpPr/>
          <p:nvPr/>
        </p:nvSpPr>
        <p:spPr>
          <a:xfrm>
            <a:off x="762000" y="533400"/>
            <a:ext cx="7620000" cy="369332"/>
          </a:xfrm>
          <a:prstGeom prst="rect">
            <a:avLst/>
          </a:prstGeom>
        </p:spPr>
        <p:txBody>
          <a:bodyPr wrap="square">
            <a:spAutoFit/>
          </a:bodyPr>
          <a:lstStyle/>
          <a:p>
            <a:r>
              <a:rPr lang="en-US" dirty="0"/>
              <a:t>The current flowing in the circuit is calculated using the formula below:</a:t>
            </a:r>
          </a:p>
        </p:txBody>
      </p:sp>
      <p:pic>
        <p:nvPicPr>
          <p:cNvPr id="5" name="Picture 4"/>
          <p:cNvPicPr>
            <a:picLocks noChangeAspect="1"/>
          </p:cNvPicPr>
          <p:nvPr/>
        </p:nvPicPr>
        <p:blipFill>
          <a:blip r:embed="rId2"/>
          <a:stretch>
            <a:fillRect/>
          </a:stretch>
        </p:blipFill>
        <p:spPr>
          <a:xfrm>
            <a:off x="1981200" y="1066800"/>
            <a:ext cx="3810000" cy="428625"/>
          </a:xfrm>
          <a:prstGeom prst="rect">
            <a:avLst/>
          </a:prstGeom>
        </p:spPr>
      </p:pic>
      <p:sp>
        <p:nvSpPr>
          <p:cNvPr id="6" name="Rectangle 5"/>
          <p:cNvSpPr/>
          <p:nvPr/>
        </p:nvSpPr>
        <p:spPr>
          <a:xfrm>
            <a:off x="152400" y="3075543"/>
            <a:ext cx="8762999" cy="646331"/>
          </a:xfrm>
          <a:prstGeom prst="rect">
            <a:avLst/>
          </a:prstGeom>
        </p:spPr>
        <p:txBody>
          <a:bodyPr wrap="square">
            <a:spAutoFit/>
          </a:bodyPr>
          <a:lstStyle/>
          <a:p>
            <a:r>
              <a:rPr lang="en-US" b="1" dirty="0"/>
              <a:t>                NB: USING NORTONS THEOREM CALCULATE THE CURRENT THROUGH THE </a:t>
            </a:r>
          </a:p>
          <a:p>
            <a:pPr algn="ctr"/>
            <a:r>
              <a:rPr lang="en-US" b="1" dirty="0"/>
              <a:t>SAME LOAD RESISTOR. </a:t>
            </a:r>
          </a:p>
        </p:txBody>
      </p:sp>
    </p:spTree>
    <p:extLst>
      <p:ext uri="{BB962C8B-B14F-4D97-AF65-F5344CB8AC3E}">
        <p14:creationId xmlns:p14="http://schemas.microsoft.com/office/powerpoint/2010/main" val="1715935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NORTON’S THEOREM</a:t>
            </a:r>
          </a:p>
        </p:txBody>
      </p:sp>
      <p:sp>
        <p:nvSpPr>
          <p:cNvPr id="3" name="Content Placeholder 2"/>
          <p:cNvSpPr>
            <a:spLocks noGrp="1"/>
          </p:cNvSpPr>
          <p:nvPr>
            <p:ph idx="1"/>
          </p:nvPr>
        </p:nvSpPr>
        <p:spPr>
          <a:xfrm>
            <a:off x="457200" y="1066801"/>
            <a:ext cx="8229600" cy="4190999"/>
          </a:xfrm>
        </p:spPr>
        <p:txBody>
          <a:bodyPr>
            <a:normAutofit lnSpcReduction="10000"/>
          </a:bodyPr>
          <a:lstStyle/>
          <a:p>
            <a:pPr algn="just">
              <a:buNone/>
            </a:pPr>
            <a:r>
              <a:rPr lang="en-US" altLang="zh-TW" dirty="0">
                <a:ea typeface="新細明體" pitchFamily="18" charset="-120"/>
              </a:rPr>
              <a:t>Norton’s theorem states that a linear two</a:t>
            </a:r>
          </a:p>
          <a:p>
            <a:pPr algn="just">
              <a:buNone/>
            </a:pPr>
            <a:r>
              <a:rPr lang="en-US" altLang="zh-TW" dirty="0">
                <a:ea typeface="新細明體" pitchFamily="18" charset="-120"/>
              </a:rPr>
              <a:t>terminal circuit can be replaced by equivalent</a:t>
            </a:r>
          </a:p>
          <a:p>
            <a:pPr algn="just">
              <a:buNone/>
            </a:pPr>
            <a:r>
              <a:rPr lang="en-US" altLang="zh-TW" dirty="0">
                <a:ea typeface="新細明體" pitchFamily="18" charset="-120"/>
              </a:rPr>
              <a:t>circuit consisting of a current source I</a:t>
            </a:r>
            <a:r>
              <a:rPr lang="en-US" altLang="zh-TW" baseline="-25000" dirty="0">
                <a:ea typeface="新細明體" pitchFamily="18" charset="-120"/>
              </a:rPr>
              <a:t>N</a:t>
            </a:r>
            <a:r>
              <a:rPr lang="en-US" altLang="zh-TW" dirty="0">
                <a:ea typeface="新細明體" pitchFamily="18" charset="-120"/>
              </a:rPr>
              <a:t> in parallel</a:t>
            </a:r>
          </a:p>
          <a:p>
            <a:pPr algn="just">
              <a:buNone/>
            </a:pPr>
            <a:r>
              <a:rPr lang="en-US" altLang="zh-TW" dirty="0">
                <a:ea typeface="新細明體" pitchFamily="18" charset="-120"/>
              </a:rPr>
              <a:t>with a resistor R</a:t>
            </a:r>
            <a:r>
              <a:rPr lang="en-US" altLang="zh-TW" baseline="-25000" dirty="0">
                <a:ea typeface="新細明體" pitchFamily="18" charset="-120"/>
              </a:rPr>
              <a:t>N</a:t>
            </a:r>
            <a:r>
              <a:rPr lang="en-US" altLang="zh-TW" dirty="0">
                <a:ea typeface="新細明體" pitchFamily="18" charset="-120"/>
              </a:rPr>
              <a:t> where I</a:t>
            </a:r>
            <a:r>
              <a:rPr lang="en-US" altLang="zh-TW" baseline="-25000" dirty="0">
                <a:ea typeface="新細明體" pitchFamily="18" charset="-120"/>
              </a:rPr>
              <a:t>N</a:t>
            </a:r>
            <a:r>
              <a:rPr lang="en-US" altLang="zh-TW" dirty="0">
                <a:ea typeface="新細明體" pitchFamily="18" charset="-120"/>
              </a:rPr>
              <a:t> is the short-circuit</a:t>
            </a:r>
          </a:p>
          <a:p>
            <a:pPr algn="just">
              <a:buNone/>
            </a:pPr>
            <a:r>
              <a:rPr lang="en-US" altLang="zh-TW" dirty="0">
                <a:ea typeface="新細明體" pitchFamily="18" charset="-120"/>
              </a:rPr>
              <a:t>current through the terminals and R</a:t>
            </a:r>
            <a:r>
              <a:rPr lang="en-US" altLang="zh-TW" baseline="-25000" dirty="0">
                <a:ea typeface="新細明體" pitchFamily="18" charset="-120"/>
              </a:rPr>
              <a:t>N</a:t>
            </a:r>
            <a:r>
              <a:rPr lang="en-US" altLang="zh-TW" dirty="0">
                <a:ea typeface="新細明體" pitchFamily="18" charset="-120"/>
              </a:rPr>
              <a:t> is the</a:t>
            </a:r>
          </a:p>
          <a:p>
            <a:pPr algn="just">
              <a:buNone/>
            </a:pPr>
            <a:r>
              <a:rPr lang="en-US" altLang="zh-TW" dirty="0">
                <a:ea typeface="新細明體" pitchFamily="18" charset="-120"/>
              </a:rPr>
              <a:t>input or equivalent resistance at the terminals</a:t>
            </a:r>
          </a:p>
          <a:p>
            <a:pPr algn="just">
              <a:buNone/>
            </a:pPr>
            <a:r>
              <a:rPr lang="en-US" altLang="zh-TW" dirty="0">
                <a:ea typeface="新細明體" pitchFamily="18" charset="-120"/>
              </a:rPr>
              <a:t>when the independent source are turn off and replaced by their internal resistances.</a:t>
            </a:r>
          </a:p>
          <a:p>
            <a:pPr>
              <a:buNone/>
            </a:pPr>
            <a:endParaRPr lang="en-US" dirty="0"/>
          </a:p>
        </p:txBody>
      </p:sp>
      <p:sp>
        <p:nvSpPr>
          <p:cNvPr id="4" name="Slide Number Placeholder 3"/>
          <p:cNvSpPr>
            <a:spLocks noGrp="1"/>
          </p:cNvSpPr>
          <p:nvPr>
            <p:ph type="sldNum" sz="quarter" idx="12"/>
          </p:nvPr>
        </p:nvSpPr>
        <p:spPr/>
        <p:txBody>
          <a:bodyPr/>
          <a:lstStyle/>
          <a:p>
            <a:fld id="{E663B3CF-6C2D-4911-96EF-7D0E630954F6}" type="slidenum">
              <a:rPr lang="en-GB" smtClean="0"/>
              <a:pPr/>
              <a:t>20</a:t>
            </a:fld>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SUPERPOSITION</a:t>
            </a:r>
            <a:r>
              <a:rPr lang="en-US" dirty="0"/>
              <a:t> </a:t>
            </a:r>
            <a:r>
              <a:rPr lang="en-US" b="1" dirty="0"/>
              <a:t>THEOREM</a:t>
            </a:r>
          </a:p>
        </p:txBody>
      </p:sp>
      <p:sp>
        <p:nvSpPr>
          <p:cNvPr id="3" name="Content Placeholder 2"/>
          <p:cNvSpPr>
            <a:spLocks noGrp="1"/>
          </p:cNvSpPr>
          <p:nvPr>
            <p:ph idx="1"/>
          </p:nvPr>
        </p:nvSpPr>
        <p:spPr>
          <a:xfrm>
            <a:off x="228600" y="990600"/>
            <a:ext cx="8686800" cy="5562600"/>
          </a:xfrm>
        </p:spPr>
        <p:txBody>
          <a:bodyPr/>
          <a:lstStyle/>
          <a:p>
            <a:pPr>
              <a:lnSpc>
                <a:spcPct val="90000"/>
              </a:lnSpc>
              <a:buClr>
                <a:schemeClr val="accent2"/>
              </a:buClr>
            </a:pPr>
            <a:r>
              <a:rPr lang="en-US" dirty="0"/>
              <a:t>Used to find the solution to networks with two or more sources that are not in series or parallel.</a:t>
            </a:r>
          </a:p>
          <a:p>
            <a:pPr>
              <a:lnSpc>
                <a:spcPct val="90000"/>
              </a:lnSpc>
              <a:buClr>
                <a:schemeClr val="accent2"/>
              </a:buClr>
            </a:pPr>
            <a:r>
              <a:rPr lang="en-US" dirty="0"/>
              <a:t>The current through, or voltage across, an element in a network is equal to the algebraic sum of the currents or voltages produced independently by each source.</a:t>
            </a:r>
          </a:p>
          <a:p>
            <a:pPr>
              <a:lnSpc>
                <a:spcPct val="90000"/>
              </a:lnSpc>
              <a:buClr>
                <a:schemeClr val="accent2"/>
              </a:buClr>
            </a:pPr>
            <a:r>
              <a:rPr lang="en-US" dirty="0"/>
              <a:t> Since the effect of each source will be determined independently, the number of networks to be analyzed will equal the number of sources.</a:t>
            </a:r>
          </a:p>
          <a:p>
            <a:pPr>
              <a:buNone/>
            </a:pPr>
            <a:endParaRPr lang="en-US" dirty="0"/>
          </a:p>
        </p:txBody>
      </p:sp>
      <p:sp>
        <p:nvSpPr>
          <p:cNvPr id="4" name="Slide Number Placeholder 3"/>
          <p:cNvSpPr>
            <a:spLocks noGrp="1"/>
          </p:cNvSpPr>
          <p:nvPr>
            <p:ph type="sldNum" sz="quarter" idx="12"/>
          </p:nvPr>
        </p:nvSpPr>
        <p:spPr/>
        <p:txBody>
          <a:bodyPr/>
          <a:lstStyle/>
          <a:p>
            <a:fld id="{E663B3CF-6C2D-4911-96EF-7D0E630954F6}" type="slidenum">
              <a:rPr lang="en-GB" smtClean="0"/>
              <a:pPr/>
              <a:t>21</a:t>
            </a:fld>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274638"/>
            <a:ext cx="8229600" cy="487362"/>
          </a:xfrm>
        </p:spPr>
        <p:txBody>
          <a:bodyPr>
            <a:normAutofit fontScale="90000"/>
          </a:bodyPr>
          <a:lstStyle/>
          <a:p>
            <a:r>
              <a:rPr lang="en-US" b="1" dirty="0"/>
              <a:t>SUPERPOSITION THEOREM</a:t>
            </a:r>
          </a:p>
        </p:txBody>
      </p:sp>
      <p:sp>
        <p:nvSpPr>
          <p:cNvPr id="8" name="Content Placeholder 7"/>
          <p:cNvSpPr>
            <a:spLocks noGrp="1"/>
          </p:cNvSpPr>
          <p:nvPr>
            <p:ph idx="1"/>
          </p:nvPr>
        </p:nvSpPr>
        <p:spPr>
          <a:xfrm>
            <a:off x="457200" y="1143000"/>
            <a:ext cx="8077200" cy="4983163"/>
          </a:xfrm>
        </p:spPr>
        <p:txBody>
          <a:bodyPr>
            <a:normAutofit fontScale="77500" lnSpcReduction="20000"/>
          </a:bodyPr>
          <a:lstStyle/>
          <a:p>
            <a:pPr>
              <a:buNone/>
            </a:pPr>
            <a:r>
              <a:rPr lang="en-US" b="1" dirty="0"/>
              <a:t>Superposition Theorem States:</a:t>
            </a:r>
          </a:p>
          <a:p>
            <a:pPr algn="just">
              <a:buNone/>
            </a:pPr>
            <a:r>
              <a:rPr lang="en-US" sz="3000" dirty="0"/>
              <a:t>In any network made up of linear resistances and containing more than one source of </a:t>
            </a:r>
            <a:r>
              <a:rPr lang="en-US" sz="3000" dirty="0" err="1"/>
              <a:t>e.m.f</a:t>
            </a:r>
            <a:r>
              <a:rPr lang="en-US" sz="3000" dirty="0"/>
              <a:t>., the resultant current flowing in any branch is the algebraic sum of the currents that would flow in that branch if each source was considered separately, all other sources being replaced at that time by their respective internal resistances.</a:t>
            </a:r>
          </a:p>
          <a:p>
            <a:pPr algn="just">
              <a:buNone/>
            </a:pPr>
            <a:endParaRPr lang="en-US" sz="3000" dirty="0"/>
          </a:p>
          <a:p>
            <a:pPr>
              <a:buNone/>
            </a:pPr>
            <a:r>
              <a:rPr lang="en-US" sz="2800" dirty="0"/>
              <a:t>This method allows us to determine the current through or the </a:t>
            </a:r>
          </a:p>
          <a:p>
            <a:pPr>
              <a:buNone/>
            </a:pPr>
            <a:r>
              <a:rPr lang="en-US" sz="2800" dirty="0"/>
              <a:t>voltage across any resistor or branch in a network.</a:t>
            </a:r>
          </a:p>
          <a:p>
            <a:pPr>
              <a:buNone/>
            </a:pPr>
            <a:endParaRPr lang="en-US" sz="2800" dirty="0"/>
          </a:p>
          <a:p>
            <a:pPr>
              <a:buNone/>
            </a:pPr>
            <a:r>
              <a:rPr lang="en-US" sz="2800" dirty="0"/>
              <a:t>The advantage of using this approach instead of mesh analysis </a:t>
            </a:r>
          </a:p>
          <a:p>
            <a:pPr>
              <a:buNone/>
            </a:pPr>
            <a:r>
              <a:rPr lang="en-US" sz="2800" dirty="0"/>
              <a:t>or nodal analysis is that it is not necessary to use determinants or matrix algebra to analyze a given circuit</a:t>
            </a:r>
            <a:endParaRPr lang="en-US" sz="3000" dirty="0"/>
          </a:p>
          <a:p>
            <a:pPr algn="just">
              <a:buNone/>
            </a:pPr>
            <a:endParaRPr lang="en-US" dirty="0"/>
          </a:p>
        </p:txBody>
      </p:sp>
      <p:sp>
        <p:nvSpPr>
          <p:cNvPr id="2" name="Slide Number Placeholder 1"/>
          <p:cNvSpPr>
            <a:spLocks noGrp="1"/>
          </p:cNvSpPr>
          <p:nvPr>
            <p:ph type="sldNum" sz="quarter" idx="12"/>
          </p:nvPr>
        </p:nvSpPr>
        <p:spPr/>
        <p:txBody>
          <a:bodyPr/>
          <a:lstStyle/>
          <a:p>
            <a:fld id="{E663B3CF-6C2D-4911-96EF-7D0E630954F6}" type="slidenum">
              <a:rPr lang="en-GB" smtClean="0"/>
              <a:pPr/>
              <a:t>22</a:t>
            </a:fld>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CONT…</a:t>
            </a:r>
          </a:p>
        </p:txBody>
      </p:sp>
      <p:pic>
        <p:nvPicPr>
          <p:cNvPr id="26626" name="Picture 2"/>
          <p:cNvPicPr>
            <a:picLocks noGrp="1" noChangeAspect="1" noChangeArrowheads="1"/>
          </p:cNvPicPr>
          <p:nvPr>
            <p:ph idx="1"/>
          </p:nvPr>
        </p:nvPicPr>
        <p:blipFill>
          <a:blip r:embed="rId2"/>
          <a:srcRect/>
          <a:stretch>
            <a:fillRect/>
          </a:stretch>
        </p:blipFill>
        <p:spPr bwMode="auto">
          <a:xfrm>
            <a:off x="304800" y="1219200"/>
            <a:ext cx="8001000" cy="4648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E663B3CF-6C2D-4911-96EF-7D0E630954F6}" type="slidenum">
              <a:rPr lang="en-GB" smtClean="0"/>
              <a:pPr/>
              <a:t>23</a:t>
            </a:fld>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Cont….</a:t>
            </a:r>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pPr>
              <a:buNone/>
            </a:pPr>
            <a:r>
              <a:rPr lang="en-US" dirty="0"/>
              <a:t>In order to apply the superposition theorem it is necessary to remove all sources other than the one being examined. In order to “zero” a voltage source, we replace it with a short circuit, since the voltage across a short circuit is zero volts.</a:t>
            </a:r>
          </a:p>
          <a:p>
            <a:pPr>
              <a:buNone/>
            </a:pPr>
            <a:r>
              <a:rPr lang="en-US" dirty="0"/>
              <a:t> </a:t>
            </a:r>
          </a:p>
          <a:p>
            <a:pPr>
              <a:buNone/>
            </a:pPr>
            <a:r>
              <a:rPr lang="en-US" dirty="0"/>
              <a:t>A current source is zeroed by replacing it with an open circuit, since the current through an open circuit is zero amps</a:t>
            </a:r>
            <a:r>
              <a:rPr lang="en-US" b="1" dirty="0"/>
              <a:t>.</a:t>
            </a:r>
          </a:p>
          <a:p>
            <a:pPr>
              <a:buNone/>
            </a:pPr>
            <a:endParaRPr lang="en-US" b="1" dirty="0"/>
          </a:p>
          <a:p>
            <a:pPr>
              <a:buNone/>
            </a:pPr>
            <a:r>
              <a:rPr lang="en-US" dirty="0"/>
              <a:t>If we wish to determine the power dissipated by any resistor, we must first find either the voltage across the resistor or the current through the resistor.</a:t>
            </a:r>
          </a:p>
        </p:txBody>
      </p:sp>
      <p:sp>
        <p:nvSpPr>
          <p:cNvPr id="4" name="Slide Number Placeholder 3"/>
          <p:cNvSpPr>
            <a:spLocks noGrp="1"/>
          </p:cNvSpPr>
          <p:nvPr>
            <p:ph type="sldNum" sz="quarter" idx="12"/>
          </p:nvPr>
        </p:nvSpPr>
        <p:spPr/>
        <p:txBody>
          <a:bodyPr/>
          <a:lstStyle/>
          <a:p>
            <a:fld id="{E663B3CF-6C2D-4911-96EF-7D0E630954F6}" type="slidenum">
              <a:rPr lang="en-GB" smtClean="0"/>
              <a:pPr/>
              <a:t>24</a:t>
            </a:fld>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a:t>Cont…</a:t>
            </a:r>
          </a:p>
        </p:txBody>
      </p:sp>
      <p:sp>
        <p:nvSpPr>
          <p:cNvPr id="3" name="Content Placeholder 2"/>
          <p:cNvSpPr>
            <a:spLocks noGrp="1"/>
          </p:cNvSpPr>
          <p:nvPr>
            <p:ph idx="1"/>
          </p:nvPr>
        </p:nvSpPr>
        <p:spPr>
          <a:xfrm>
            <a:off x="457200" y="1219201"/>
            <a:ext cx="8229600" cy="4495800"/>
          </a:xfrm>
        </p:spPr>
        <p:txBody>
          <a:bodyPr/>
          <a:lstStyle/>
          <a:p>
            <a:pPr>
              <a:buNone/>
            </a:pPr>
            <a:endParaRPr lang="en-US" dirty="0"/>
          </a:p>
          <a:p>
            <a:pPr>
              <a:buNone/>
            </a:pPr>
            <a:r>
              <a:rPr lang="en-US" b="1" dirty="0"/>
              <a:t>NOTE THAT:</a:t>
            </a:r>
          </a:p>
          <a:p>
            <a:pPr>
              <a:buNone/>
            </a:pPr>
            <a:r>
              <a:rPr lang="en-US" dirty="0"/>
              <a:t>The superposition theorem does not apply to power, since power is not a linear quantity, but rather is found as the square of either current or voltage.</a:t>
            </a:r>
          </a:p>
        </p:txBody>
      </p:sp>
      <p:sp>
        <p:nvSpPr>
          <p:cNvPr id="4" name="Slide Number Placeholder 3"/>
          <p:cNvSpPr>
            <a:spLocks noGrp="1"/>
          </p:cNvSpPr>
          <p:nvPr>
            <p:ph type="sldNum" sz="quarter" idx="12"/>
          </p:nvPr>
        </p:nvSpPr>
        <p:spPr/>
        <p:txBody>
          <a:bodyPr/>
          <a:lstStyle/>
          <a:p>
            <a:fld id="{E663B3CF-6C2D-4911-96EF-7D0E630954F6}" type="slidenum">
              <a:rPr lang="en-GB" smtClean="0"/>
              <a:pPr/>
              <a:t>25</a:t>
            </a:fld>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b="1" dirty="0"/>
              <a:t>EXAMPLE</a:t>
            </a:r>
          </a:p>
        </p:txBody>
      </p:sp>
      <p:sp>
        <p:nvSpPr>
          <p:cNvPr id="3" name="Content Placeholder 2"/>
          <p:cNvSpPr>
            <a:spLocks noGrp="1"/>
          </p:cNvSpPr>
          <p:nvPr>
            <p:ph idx="1"/>
          </p:nvPr>
        </p:nvSpPr>
        <p:spPr>
          <a:xfrm>
            <a:off x="457200" y="1371600"/>
            <a:ext cx="8229600" cy="4754563"/>
          </a:xfrm>
        </p:spPr>
        <p:txBody>
          <a:bodyPr>
            <a:normAutofit/>
          </a:bodyPr>
          <a:lstStyle/>
          <a:p>
            <a:pPr>
              <a:buNone/>
            </a:pPr>
            <a:r>
              <a:rPr lang="en-US" sz="2800" b="1" dirty="0"/>
              <a:t>Question: </a:t>
            </a:r>
            <a:r>
              <a:rPr lang="en-US" sz="2800" dirty="0"/>
              <a:t>Using superposition theorem, find that current through the 18</a:t>
            </a:r>
            <a:r>
              <a:rPr lang="el-GR" sz="2800" dirty="0"/>
              <a:t>Ω</a:t>
            </a:r>
            <a:r>
              <a:rPr lang="en-US" sz="2800" dirty="0"/>
              <a:t> resistor and also the </a:t>
            </a:r>
            <a:r>
              <a:rPr lang="en-US" sz="2800" dirty="0" err="1"/>
              <a:t>p.d</a:t>
            </a:r>
            <a:r>
              <a:rPr lang="en-US" sz="2800" dirty="0"/>
              <a:t> across it.</a:t>
            </a:r>
          </a:p>
        </p:txBody>
      </p:sp>
      <p:pic>
        <p:nvPicPr>
          <p:cNvPr id="27650" name="Picture 2"/>
          <p:cNvPicPr>
            <a:picLocks noChangeAspect="1" noChangeArrowheads="1"/>
          </p:cNvPicPr>
          <p:nvPr/>
        </p:nvPicPr>
        <p:blipFill>
          <a:blip r:embed="rId2"/>
          <a:srcRect/>
          <a:stretch>
            <a:fillRect/>
          </a:stretch>
        </p:blipFill>
        <p:spPr bwMode="auto">
          <a:xfrm>
            <a:off x="2514600" y="2743200"/>
            <a:ext cx="4114800" cy="2700337"/>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E663B3CF-6C2D-4911-96EF-7D0E630954F6}" type="slidenum">
              <a:rPr lang="en-GB" smtClean="0"/>
              <a:pPr/>
              <a:t>26</a:t>
            </a:fld>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229600" cy="639762"/>
          </a:xfrm>
        </p:spPr>
        <p:txBody>
          <a:bodyPr>
            <a:noAutofit/>
          </a:bodyPr>
          <a:lstStyle/>
          <a:p>
            <a:r>
              <a:rPr lang="en-US" sz="2100" b="1" u="sng" dirty="0">
                <a:latin typeface="+mn-lt"/>
              </a:rPr>
              <a:t>STEPS INVOLVED IN APPLYING SUPERPOSITION THEOREM TO A CIRCUIT</a:t>
            </a:r>
            <a:endParaRPr lang="en-US" sz="2100" dirty="0">
              <a:latin typeface="+mn-lt"/>
            </a:endParaRPr>
          </a:p>
        </p:txBody>
      </p:sp>
      <p:sp>
        <p:nvSpPr>
          <p:cNvPr id="3" name="Content Placeholder 2"/>
          <p:cNvSpPr>
            <a:spLocks noGrp="1"/>
          </p:cNvSpPr>
          <p:nvPr>
            <p:ph idx="1"/>
          </p:nvPr>
        </p:nvSpPr>
        <p:spPr>
          <a:xfrm>
            <a:off x="457200" y="1143000"/>
            <a:ext cx="8229600" cy="4983163"/>
          </a:xfrm>
        </p:spPr>
        <p:txBody>
          <a:bodyPr>
            <a:normAutofit fontScale="77500" lnSpcReduction="20000"/>
          </a:bodyPr>
          <a:lstStyle/>
          <a:p>
            <a:r>
              <a:rPr lang="en-US" b="1" dirty="0"/>
              <a:t>Step - 1</a:t>
            </a:r>
          </a:p>
          <a:p>
            <a:pPr>
              <a:buNone/>
            </a:pPr>
            <a:r>
              <a:rPr lang="en-US" dirty="0"/>
              <a:t>Replace all but one of the sources by their internal resistances.</a:t>
            </a:r>
          </a:p>
          <a:p>
            <a:r>
              <a:rPr lang="en-US" b="1" dirty="0"/>
              <a:t>Step - 2</a:t>
            </a:r>
          </a:p>
          <a:p>
            <a:pPr>
              <a:buNone/>
            </a:pPr>
            <a:r>
              <a:rPr lang="en-US" dirty="0"/>
              <a:t>Determine the currents in various branches using simple Ohms law.</a:t>
            </a:r>
          </a:p>
          <a:p>
            <a:r>
              <a:rPr lang="en-US" b="1" dirty="0"/>
              <a:t>Step - 3</a:t>
            </a:r>
          </a:p>
          <a:p>
            <a:pPr>
              <a:buNone/>
            </a:pPr>
            <a:r>
              <a:rPr lang="en-US" dirty="0"/>
              <a:t>Repeat the process using each of the sources turn - by turn as the sole source each time. </a:t>
            </a:r>
          </a:p>
          <a:p>
            <a:r>
              <a:rPr lang="en-US" b="1" dirty="0"/>
              <a:t>Step - 4</a:t>
            </a:r>
          </a:p>
          <a:p>
            <a:pPr>
              <a:buNone/>
            </a:pPr>
            <a:r>
              <a:rPr lang="en-US" dirty="0"/>
              <a:t>Add all the currents in a particular branch due to each source. This the desired value of current at that branch when all the sources acting on the circuit simultaneously. </a:t>
            </a:r>
          </a:p>
          <a:p>
            <a:pPr>
              <a:buNone/>
            </a:pPr>
            <a:endParaRPr lang="en-US" dirty="0"/>
          </a:p>
        </p:txBody>
      </p:sp>
      <p:sp>
        <p:nvSpPr>
          <p:cNvPr id="4" name="Slide Number Placeholder 3"/>
          <p:cNvSpPr>
            <a:spLocks noGrp="1"/>
          </p:cNvSpPr>
          <p:nvPr>
            <p:ph type="sldNum" sz="quarter" idx="12"/>
          </p:nvPr>
        </p:nvSpPr>
        <p:spPr/>
        <p:txBody>
          <a:bodyPr/>
          <a:lstStyle/>
          <a:p>
            <a:fld id="{E663B3CF-6C2D-4911-96EF-7D0E630954F6}" type="slidenum">
              <a:rPr lang="en-GB" smtClean="0"/>
              <a:pPr/>
              <a:t>27</a:t>
            </a:fld>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RECIPROCITY THEOREM</a:t>
            </a:r>
          </a:p>
        </p:txBody>
      </p:sp>
      <p:sp>
        <p:nvSpPr>
          <p:cNvPr id="3" name="Content Placeholder 2"/>
          <p:cNvSpPr>
            <a:spLocks noGrp="1"/>
          </p:cNvSpPr>
          <p:nvPr>
            <p:ph idx="1"/>
          </p:nvPr>
        </p:nvSpPr>
        <p:spPr>
          <a:xfrm>
            <a:off x="609600" y="838200"/>
            <a:ext cx="8077200" cy="5486400"/>
          </a:xfrm>
        </p:spPr>
        <p:txBody>
          <a:bodyPr>
            <a:normAutofit fontScale="77500" lnSpcReduction="20000"/>
          </a:bodyPr>
          <a:lstStyle/>
          <a:p>
            <a:pPr>
              <a:buNone/>
            </a:pPr>
            <a:r>
              <a:rPr lang="en-US" dirty="0"/>
              <a:t>In many electrical network it is found that if positions of voltage source and ammeter are interchanged, the reading of ammeter remains same. Suppose a voltage source is connected to a passive network and an ammeter is connected to other part of the network to indicate the response. </a:t>
            </a:r>
          </a:p>
          <a:p>
            <a:pPr>
              <a:buNone/>
            </a:pPr>
            <a:r>
              <a:rPr lang="en-US" dirty="0"/>
              <a:t>Now any one interchanges the positions of ammeter and voltage source, making the voltage source to be connected at the part of the network where the ammeter was connected and also connect the ammeter to that part of the network where the voltage source was connected. The current through the ammeter would be same in both cases. </a:t>
            </a:r>
          </a:p>
          <a:p>
            <a:pPr>
              <a:buNone/>
            </a:pPr>
            <a:r>
              <a:rPr lang="en-US" dirty="0"/>
              <a:t>This is where the property of reciprocity comes in the circuit. The particular circuit which has this reciprocal property is called reciprocal circuit and  therefore perfectly obeys </a:t>
            </a:r>
            <a:r>
              <a:rPr lang="en-US" b="1" dirty="0"/>
              <a:t>reciprocity theorem</a:t>
            </a:r>
            <a:r>
              <a:rPr lang="en-US" dirty="0"/>
              <a:t>.</a:t>
            </a:r>
          </a:p>
        </p:txBody>
      </p:sp>
      <p:sp>
        <p:nvSpPr>
          <p:cNvPr id="4" name="Slide Number Placeholder 3"/>
          <p:cNvSpPr>
            <a:spLocks noGrp="1"/>
          </p:cNvSpPr>
          <p:nvPr>
            <p:ph type="sldNum" sz="quarter" idx="12"/>
          </p:nvPr>
        </p:nvSpPr>
        <p:spPr/>
        <p:txBody>
          <a:bodyPr/>
          <a:lstStyle/>
          <a:p>
            <a:fld id="{E663B3CF-6C2D-4911-96EF-7D0E630954F6}" type="slidenum">
              <a:rPr lang="en-GB" smtClean="0"/>
              <a:pPr/>
              <a:t>28</a:t>
            </a:fld>
            <a:endParaRPr lang="en-GB"/>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POINTS TO NOTE</a:t>
            </a:r>
          </a:p>
        </p:txBody>
      </p:sp>
      <p:sp>
        <p:nvSpPr>
          <p:cNvPr id="3" name="Content Placeholder 2"/>
          <p:cNvSpPr>
            <a:spLocks noGrp="1"/>
          </p:cNvSpPr>
          <p:nvPr>
            <p:ph idx="1"/>
          </p:nvPr>
        </p:nvSpPr>
        <p:spPr>
          <a:xfrm>
            <a:off x="457200" y="990600"/>
            <a:ext cx="8229600" cy="5334000"/>
          </a:xfrm>
        </p:spPr>
        <p:txBody>
          <a:bodyPr>
            <a:normAutofit fontScale="92500" lnSpcReduction="20000"/>
          </a:bodyPr>
          <a:lstStyle/>
          <a:p>
            <a:r>
              <a:rPr lang="en-US" dirty="0"/>
              <a:t>The voltage source and the ammeter used in this theorem must be ideal. That means the internal resistance of both voltage source and ammeter must be zero. </a:t>
            </a:r>
          </a:p>
          <a:p>
            <a:pPr>
              <a:buNone/>
            </a:pPr>
            <a:endParaRPr lang="en-US" dirty="0"/>
          </a:p>
          <a:p>
            <a:r>
              <a:rPr lang="en-US" dirty="0"/>
              <a:t>The reciprocal circuit may be a simple or complex network. But every complex reciprocal passive network can be simplified to a simple network. </a:t>
            </a:r>
          </a:p>
          <a:p>
            <a:endParaRPr lang="en-US" dirty="0"/>
          </a:p>
          <a:p>
            <a:r>
              <a:rPr lang="en-US" dirty="0"/>
              <a:t>As per reciprocity theorem in a linear passive network, supply voltage V and output current I are mutually transferable. The ratio of V and I is called the transfer resistance.</a:t>
            </a:r>
          </a:p>
        </p:txBody>
      </p:sp>
      <p:sp>
        <p:nvSpPr>
          <p:cNvPr id="4" name="Slide Number Placeholder 3"/>
          <p:cNvSpPr>
            <a:spLocks noGrp="1"/>
          </p:cNvSpPr>
          <p:nvPr>
            <p:ph type="sldNum" sz="quarter" idx="12"/>
          </p:nvPr>
        </p:nvSpPr>
        <p:spPr/>
        <p:txBody>
          <a:bodyPr/>
          <a:lstStyle/>
          <a:p>
            <a:fld id="{E663B3CF-6C2D-4911-96EF-7D0E630954F6}" type="slidenum">
              <a:rPr lang="en-GB" smtClean="0"/>
              <a:pPr/>
              <a:t>29</a:t>
            </a:fld>
            <a:endParaRPr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3600" b="1" dirty="0"/>
              <a:t>ILLUSTRATION</a:t>
            </a:r>
          </a:p>
        </p:txBody>
      </p:sp>
      <p:pic>
        <p:nvPicPr>
          <p:cNvPr id="25602" name="Picture 2"/>
          <p:cNvPicPr>
            <a:picLocks noGrp="1" noChangeAspect="1" noChangeArrowheads="1"/>
          </p:cNvPicPr>
          <p:nvPr>
            <p:ph idx="1"/>
          </p:nvPr>
        </p:nvPicPr>
        <p:blipFill>
          <a:blip r:embed="rId2"/>
          <a:srcRect/>
          <a:stretch>
            <a:fillRect/>
          </a:stretch>
        </p:blipFill>
        <p:spPr bwMode="auto">
          <a:xfrm>
            <a:off x="685800" y="990600"/>
            <a:ext cx="7620000" cy="2438400"/>
          </a:xfrm>
          <a:prstGeom prst="rect">
            <a:avLst/>
          </a:prstGeom>
          <a:noFill/>
          <a:ln w="9525">
            <a:noFill/>
            <a:miter lim="800000"/>
            <a:headEnd/>
            <a:tailEnd/>
          </a:ln>
          <a:effectLst/>
        </p:spPr>
      </p:pic>
      <p:pic>
        <p:nvPicPr>
          <p:cNvPr id="25603" name="Picture 3"/>
          <p:cNvPicPr>
            <a:picLocks noChangeAspect="1" noChangeArrowheads="1"/>
          </p:cNvPicPr>
          <p:nvPr/>
        </p:nvPicPr>
        <p:blipFill>
          <a:blip r:embed="rId3"/>
          <a:srcRect/>
          <a:stretch>
            <a:fillRect/>
          </a:stretch>
        </p:blipFill>
        <p:spPr bwMode="auto">
          <a:xfrm>
            <a:off x="762000" y="3657600"/>
            <a:ext cx="7239000" cy="251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E663B3CF-6C2D-4911-96EF-7D0E630954F6}" type="slidenum">
              <a:rPr lang="en-GB" smtClean="0"/>
              <a:pPr/>
              <a:t>30</a:t>
            </a:fld>
            <a:endParaRPr lang="en-GB"/>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Autofit/>
          </a:bodyPr>
          <a:lstStyle/>
          <a:p>
            <a:r>
              <a:rPr lang="en-US" sz="3600" b="1" dirty="0"/>
              <a:t>MAXIMUM POWER TRANSFER</a:t>
            </a:r>
          </a:p>
        </p:txBody>
      </p:sp>
      <p:sp>
        <p:nvSpPr>
          <p:cNvPr id="3" name="Content Placeholder 2"/>
          <p:cNvSpPr>
            <a:spLocks noGrp="1"/>
          </p:cNvSpPr>
          <p:nvPr>
            <p:ph idx="1"/>
          </p:nvPr>
        </p:nvSpPr>
        <p:spPr>
          <a:xfrm>
            <a:off x="228600" y="914400"/>
            <a:ext cx="8763000" cy="5257800"/>
          </a:xfrm>
        </p:spPr>
        <p:txBody>
          <a:bodyPr>
            <a:normAutofit fontScale="92500" lnSpcReduction="20000"/>
          </a:bodyPr>
          <a:lstStyle/>
          <a:p>
            <a:pPr algn="ctr">
              <a:buNone/>
            </a:pPr>
            <a:r>
              <a:rPr lang="en-US" b="1" dirty="0"/>
              <a:t>The maximum power transfer theorem states:</a:t>
            </a:r>
          </a:p>
          <a:p>
            <a:pPr>
              <a:buNone/>
            </a:pPr>
            <a:r>
              <a:rPr lang="en-US" dirty="0"/>
              <a:t>The power transferred from a supply source to a load is at its maximum when the resistance of the load is equal to the internal resistance of the source. </a:t>
            </a:r>
          </a:p>
          <a:p>
            <a:pPr>
              <a:buNone/>
            </a:pPr>
            <a:endParaRPr lang="en-US" dirty="0"/>
          </a:p>
          <a:p>
            <a:pPr>
              <a:buNone/>
            </a:pPr>
            <a:endParaRPr lang="en-US" dirty="0"/>
          </a:p>
          <a:p>
            <a:pPr>
              <a:buNone/>
            </a:pPr>
            <a:r>
              <a:rPr lang="en-US" dirty="0"/>
              <a:t>Typical practical applications of the maximum power</a:t>
            </a:r>
          </a:p>
          <a:p>
            <a:pPr>
              <a:buNone/>
            </a:pPr>
            <a:r>
              <a:rPr lang="en-US" dirty="0"/>
              <a:t>transfer theorem are found in stereo amplifier design,</a:t>
            </a:r>
          </a:p>
          <a:p>
            <a:pPr>
              <a:buNone/>
            </a:pPr>
            <a:r>
              <a:rPr lang="en-US" dirty="0"/>
              <a:t>seeking to maximize power delivered to speakers, and</a:t>
            </a:r>
          </a:p>
          <a:p>
            <a:pPr>
              <a:buNone/>
            </a:pPr>
            <a:r>
              <a:rPr lang="en-US" dirty="0"/>
              <a:t>in electric vehicle design, seeking to maximize power</a:t>
            </a:r>
          </a:p>
          <a:p>
            <a:pPr>
              <a:buNone/>
            </a:pPr>
            <a:r>
              <a:rPr lang="en-US" dirty="0"/>
              <a:t>delivered to drive a motor.</a:t>
            </a:r>
          </a:p>
        </p:txBody>
      </p:sp>
      <p:sp>
        <p:nvSpPr>
          <p:cNvPr id="4" name="Slide Number Placeholder 3"/>
          <p:cNvSpPr>
            <a:spLocks noGrp="1"/>
          </p:cNvSpPr>
          <p:nvPr>
            <p:ph type="sldNum" sz="quarter" idx="12"/>
          </p:nvPr>
        </p:nvSpPr>
        <p:spPr/>
        <p:txBody>
          <a:bodyPr/>
          <a:lstStyle/>
          <a:p>
            <a:fld id="{E663B3CF-6C2D-4911-96EF-7D0E630954F6}" type="slidenum">
              <a:rPr lang="en-GB" smtClean="0"/>
              <a:pPr/>
              <a:t>31</a:t>
            </a:fld>
            <a:endParaRPr lang="en-GB"/>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dirty="0"/>
              <a:t>Cont…</a:t>
            </a:r>
          </a:p>
        </p:txBody>
      </p:sp>
      <p:sp>
        <p:nvSpPr>
          <p:cNvPr id="3" name="Content Placeholder 2"/>
          <p:cNvSpPr>
            <a:spLocks noGrp="1"/>
          </p:cNvSpPr>
          <p:nvPr>
            <p:ph idx="1"/>
          </p:nvPr>
        </p:nvSpPr>
        <p:spPr>
          <a:xfrm>
            <a:off x="457200" y="533400"/>
            <a:ext cx="8229600" cy="6019800"/>
          </a:xfrm>
        </p:spPr>
        <p:txBody>
          <a:bodyPr/>
          <a:lstStyle/>
          <a:p>
            <a:pPr>
              <a:buNone/>
            </a:pPr>
            <a:r>
              <a:rPr lang="en-US" dirty="0"/>
              <a:t>Suppose we have a voltage source or battery whose internal electrical resistance is </a:t>
            </a:r>
            <a:r>
              <a:rPr lang="en-US" dirty="0" err="1"/>
              <a:t>R</a:t>
            </a:r>
            <a:r>
              <a:rPr lang="en-US" baseline="-25000" dirty="0" err="1"/>
              <a:t>i</a:t>
            </a:r>
            <a:r>
              <a:rPr lang="en-US" dirty="0"/>
              <a:t> and a load resistance R</a:t>
            </a:r>
            <a:r>
              <a:rPr lang="en-US" baseline="-25000" dirty="0"/>
              <a:t>L</a:t>
            </a:r>
            <a:r>
              <a:rPr lang="en-US" dirty="0"/>
              <a:t> is connected across this battery. </a:t>
            </a:r>
          </a:p>
          <a:p>
            <a:pPr>
              <a:buNone/>
            </a:pPr>
            <a:r>
              <a:rPr lang="en-US" b="1" dirty="0"/>
              <a:t>Maximum Power Transfer Theorem</a:t>
            </a:r>
            <a:r>
              <a:rPr lang="en-US" dirty="0"/>
              <a:t> determines the value of resistance R</a:t>
            </a:r>
            <a:r>
              <a:rPr lang="en-US" baseline="-25000" dirty="0"/>
              <a:t>L</a:t>
            </a:r>
            <a:r>
              <a:rPr lang="en-US" dirty="0"/>
              <a:t> for which the maximum power will be transferred from source to it. Actually the maximum power, drawn from the source, depends upon the value of the load resistance.</a:t>
            </a:r>
          </a:p>
        </p:txBody>
      </p:sp>
      <p:pic>
        <p:nvPicPr>
          <p:cNvPr id="4" name="Picture 2"/>
          <p:cNvPicPr>
            <a:picLocks noChangeAspect="1" noChangeArrowheads="1"/>
          </p:cNvPicPr>
          <p:nvPr/>
        </p:nvPicPr>
        <p:blipFill>
          <a:blip r:embed="rId2"/>
          <a:srcRect/>
          <a:stretch>
            <a:fillRect/>
          </a:stretch>
        </p:blipFill>
        <p:spPr bwMode="auto">
          <a:xfrm>
            <a:off x="5791200" y="5029200"/>
            <a:ext cx="2333625" cy="18288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E663B3CF-6C2D-4911-96EF-7D0E630954F6}" type="slidenum">
              <a:rPr lang="en-GB" smtClean="0"/>
              <a:pPr/>
              <a:t>32</a:t>
            </a:fld>
            <a:endParaRPr lang="en-GB"/>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3600" b="1" u="sng" dirty="0"/>
              <a:t>ILLUSTRATION</a:t>
            </a:r>
          </a:p>
        </p:txBody>
      </p:sp>
      <p:sp>
        <p:nvSpPr>
          <p:cNvPr id="3" name="Content Placeholder 2"/>
          <p:cNvSpPr>
            <a:spLocks noGrp="1"/>
          </p:cNvSpPr>
          <p:nvPr>
            <p:ph idx="1"/>
          </p:nvPr>
        </p:nvSpPr>
        <p:spPr>
          <a:xfrm>
            <a:off x="457200" y="838200"/>
            <a:ext cx="8229600" cy="5287963"/>
          </a:xfrm>
        </p:spPr>
        <p:txBody>
          <a:bodyPr/>
          <a:lstStyle/>
          <a:p>
            <a:pPr>
              <a:buNone/>
            </a:pPr>
            <a:r>
              <a:rPr lang="en-US" sz="2400" dirty="0"/>
              <a:t>Power delivered to the load resistance</a:t>
            </a:r>
            <a:r>
              <a:rPr lang="en-US" dirty="0"/>
              <a:t>,</a:t>
            </a:r>
          </a:p>
          <a:p>
            <a:pPr>
              <a:buNone/>
            </a:pPr>
            <a:endParaRPr lang="en-US" dirty="0"/>
          </a:p>
          <a:p>
            <a:pPr>
              <a:buNone/>
            </a:pPr>
            <a:endParaRPr lang="en-US" dirty="0"/>
          </a:p>
          <a:p>
            <a:pPr>
              <a:buNone/>
            </a:pPr>
            <a:endParaRPr lang="en-US" dirty="0"/>
          </a:p>
        </p:txBody>
      </p:sp>
      <p:pic>
        <p:nvPicPr>
          <p:cNvPr id="39940" name="Picture 4"/>
          <p:cNvPicPr>
            <a:picLocks noChangeAspect="1" noChangeArrowheads="1"/>
          </p:cNvPicPr>
          <p:nvPr/>
        </p:nvPicPr>
        <p:blipFill>
          <a:blip r:embed="rId2"/>
          <a:srcRect/>
          <a:stretch>
            <a:fillRect/>
          </a:stretch>
        </p:blipFill>
        <p:spPr bwMode="auto">
          <a:xfrm>
            <a:off x="2971800" y="1676400"/>
            <a:ext cx="2667000" cy="828675"/>
          </a:xfrm>
          <a:prstGeom prst="rect">
            <a:avLst/>
          </a:prstGeom>
          <a:noFill/>
          <a:ln w="9525">
            <a:noFill/>
            <a:miter lim="800000"/>
            <a:headEnd/>
            <a:tailEnd/>
          </a:ln>
          <a:effectLst/>
        </p:spPr>
      </p:pic>
      <p:sp>
        <p:nvSpPr>
          <p:cNvPr id="7" name="Rectangle 6"/>
          <p:cNvSpPr/>
          <p:nvPr/>
        </p:nvSpPr>
        <p:spPr>
          <a:xfrm>
            <a:off x="533400" y="2590801"/>
            <a:ext cx="7848600" cy="1938992"/>
          </a:xfrm>
          <a:prstGeom prst="rect">
            <a:avLst/>
          </a:prstGeom>
        </p:spPr>
        <p:txBody>
          <a:bodyPr wrap="square">
            <a:spAutoFit/>
          </a:bodyPr>
          <a:lstStyle/>
          <a:p>
            <a:r>
              <a:rPr lang="en-US" sz="2400" dirty="0"/>
              <a:t>To find the maximum power, differentiate the above expression with respect to resistance R</a:t>
            </a:r>
            <a:r>
              <a:rPr lang="en-US" sz="2400" baseline="-25000" dirty="0"/>
              <a:t>L</a:t>
            </a:r>
            <a:r>
              <a:rPr lang="en-US" sz="2400" dirty="0"/>
              <a:t> and equate it to zero. Thus,</a:t>
            </a:r>
          </a:p>
          <a:p>
            <a:endParaRPr lang="en-US" sz="2400" dirty="0"/>
          </a:p>
          <a:p>
            <a:endParaRPr lang="en-US" sz="2400" dirty="0"/>
          </a:p>
        </p:txBody>
      </p:sp>
      <p:pic>
        <p:nvPicPr>
          <p:cNvPr id="39941" name="Picture 5"/>
          <p:cNvPicPr>
            <a:picLocks noChangeAspect="1" noChangeArrowheads="1"/>
          </p:cNvPicPr>
          <p:nvPr/>
        </p:nvPicPr>
        <p:blipFill>
          <a:blip r:embed="rId3"/>
          <a:srcRect/>
          <a:stretch>
            <a:fillRect/>
          </a:stretch>
        </p:blipFill>
        <p:spPr bwMode="auto">
          <a:xfrm>
            <a:off x="2057400" y="3581400"/>
            <a:ext cx="4876800" cy="895350"/>
          </a:xfrm>
          <a:prstGeom prst="rect">
            <a:avLst/>
          </a:prstGeom>
          <a:noFill/>
          <a:ln w="9525">
            <a:noFill/>
            <a:miter lim="800000"/>
            <a:headEnd/>
            <a:tailEnd/>
          </a:ln>
          <a:effectLst/>
        </p:spPr>
      </p:pic>
      <p:sp>
        <p:nvSpPr>
          <p:cNvPr id="9" name="Rectangle 8"/>
          <p:cNvSpPr/>
          <p:nvPr/>
        </p:nvSpPr>
        <p:spPr>
          <a:xfrm>
            <a:off x="533400" y="4648200"/>
            <a:ext cx="7848600" cy="1200329"/>
          </a:xfrm>
          <a:prstGeom prst="rect">
            <a:avLst/>
          </a:prstGeom>
        </p:spPr>
        <p:txBody>
          <a:bodyPr wrap="square">
            <a:spAutoFit/>
          </a:bodyPr>
          <a:lstStyle/>
          <a:p>
            <a:r>
              <a:rPr lang="en-US" sz="2400" dirty="0"/>
              <a:t>Thus in this case, the maximum power will be transferred to the load when load resistance is just equal to internal resistance of the battery.</a:t>
            </a:r>
          </a:p>
        </p:txBody>
      </p:sp>
      <p:sp>
        <p:nvSpPr>
          <p:cNvPr id="4" name="Slide Number Placeholder 3"/>
          <p:cNvSpPr>
            <a:spLocks noGrp="1"/>
          </p:cNvSpPr>
          <p:nvPr>
            <p:ph type="sldNum" sz="quarter" idx="12"/>
          </p:nvPr>
        </p:nvSpPr>
        <p:spPr/>
        <p:txBody>
          <a:bodyPr/>
          <a:lstStyle/>
          <a:p>
            <a:fld id="{E663B3CF-6C2D-4911-96EF-7D0E630954F6}" type="slidenum">
              <a:rPr lang="en-GB" smtClean="0"/>
              <a:pPr/>
              <a:t>33</a:t>
            </a:fld>
            <a:endParaRPr lang="en-GB"/>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8839200" cy="639762"/>
          </a:xfrm>
        </p:spPr>
        <p:txBody>
          <a:bodyPr>
            <a:normAutofit fontScale="90000"/>
          </a:bodyPr>
          <a:lstStyle/>
          <a:p>
            <a:br>
              <a:rPr lang="en-US" b="1" dirty="0"/>
            </a:br>
            <a:r>
              <a:rPr lang="en-US" sz="3600" b="1" dirty="0"/>
              <a:t>Star to Delta and Delta to Star Transformations</a:t>
            </a:r>
            <a:br>
              <a:rPr lang="en-US" dirty="0"/>
            </a:br>
            <a:endParaRPr lang="en-US" dirty="0"/>
          </a:p>
        </p:txBody>
      </p:sp>
      <p:sp>
        <p:nvSpPr>
          <p:cNvPr id="3" name="Content Placeholder 2"/>
          <p:cNvSpPr>
            <a:spLocks noGrp="1"/>
          </p:cNvSpPr>
          <p:nvPr>
            <p:ph idx="1"/>
          </p:nvPr>
        </p:nvSpPr>
        <p:spPr>
          <a:xfrm>
            <a:off x="152400" y="1066800"/>
            <a:ext cx="8839200" cy="4678363"/>
          </a:xfrm>
        </p:spPr>
        <p:txBody>
          <a:bodyPr/>
          <a:lstStyle/>
          <a:p>
            <a:r>
              <a:rPr lang="en-US" dirty="0"/>
              <a:t>Many a times circuits have to be transformed from Star to equivalent Delta and Delta to equivalent Star configurations such that the net terminal Resistances ( Impedances)across the terminals are the same</a:t>
            </a:r>
          </a:p>
          <a:p>
            <a:pPr marL="0" indent="0">
              <a:buNone/>
            </a:pPr>
            <a:endParaRPr lang="en-US" dirty="0"/>
          </a:p>
        </p:txBody>
      </p:sp>
      <p:sp>
        <p:nvSpPr>
          <p:cNvPr id="4" name="Slide Number Placeholder 3"/>
          <p:cNvSpPr>
            <a:spLocks noGrp="1"/>
          </p:cNvSpPr>
          <p:nvPr>
            <p:ph type="sldNum" sz="quarter" idx="12"/>
          </p:nvPr>
        </p:nvSpPr>
        <p:spPr/>
        <p:txBody>
          <a:bodyPr/>
          <a:lstStyle/>
          <a:p>
            <a:fld id="{E663B3CF-6C2D-4911-96EF-7D0E630954F6}" type="slidenum">
              <a:rPr lang="en-GB" smtClean="0"/>
              <a:pPr/>
              <a:t>34</a:t>
            </a:fld>
            <a:endParaRPr lang="en-GB"/>
          </a:p>
        </p:txBody>
      </p:sp>
      <p:pic>
        <p:nvPicPr>
          <p:cNvPr id="410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733800"/>
            <a:ext cx="7086600" cy="2011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913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307"/>
            <a:ext cx="8229600" cy="800893"/>
          </a:xfrm>
        </p:spPr>
        <p:txBody>
          <a:bodyPr/>
          <a:lstStyle/>
          <a:p>
            <a:r>
              <a:rPr lang="en-US" b="1" dirty="0"/>
              <a:t>Delta to Star Transformation</a:t>
            </a:r>
            <a:endParaRPr lang="en-US" dirty="0"/>
          </a:p>
        </p:txBody>
      </p:sp>
      <p:sp>
        <p:nvSpPr>
          <p:cNvPr id="3" name="Content Placeholder 2"/>
          <p:cNvSpPr>
            <a:spLocks noGrp="1"/>
          </p:cNvSpPr>
          <p:nvPr>
            <p:ph idx="1"/>
          </p:nvPr>
        </p:nvSpPr>
        <p:spPr>
          <a:xfrm>
            <a:off x="228600" y="838200"/>
            <a:ext cx="8839200" cy="5287963"/>
          </a:xfrm>
        </p:spPr>
        <p:txBody>
          <a:bodyPr>
            <a:normAutofit/>
          </a:bodyPr>
          <a:lstStyle/>
          <a:p>
            <a:pPr marL="0" indent="0">
              <a:buNone/>
            </a:pPr>
            <a:r>
              <a:rPr lang="en-US" dirty="0"/>
              <a:t>The circuit configurations are identical provided the net resistances across the terminal pairs XY, YZ and ZX in both connections are the same. In Star Connection they are:</a:t>
            </a:r>
          </a:p>
          <a:p>
            <a:pPr marL="0" indent="0">
              <a:buNone/>
            </a:pPr>
            <a:endParaRPr lang="en-US" dirty="0"/>
          </a:p>
          <a:p>
            <a:pPr marL="0" indent="0">
              <a:buNone/>
            </a:pPr>
            <a:r>
              <a:rPr lang="en-US" dirty="0"/>
              <a:t>RX-Y   =  RX+RY...........................	(1)		</a:t>
            </a:r>
          </a:p>
          <a:p>
            <a:pPr marL="0" indent="0">
              <a:buNone/>
            </a:pPr>
            <a:r>
              <a:rPr lang="en-US" dirty="0"/>
              <a:t>RY- Z  =  RY+RZ..........................	(2)		</a:t>
            </a:r>
          </a:p>
          <a:p>
            <a:pPr marL="0" indent="0">
              <a:buNone/>
            </a:pPr>
            <a:r>
              <a:rPr lang="en-US" dirty="0"/>
              <a:t>RZ-X   = RZ+RX................................(3)		</a:t>
            </a:r>
          </a:p>
          <a:p>
            <a:pPr marL="0" indent="0">
              <a:buNone/>
            </a:pPr>
            <a:endParaRPr lang="en-US" dirty="0"/>
          </a:p>
        </p:txBody>
      </p:sp>
      <p:sp>
        <p:nvSpPr>
          <p:cNvPr id="4" name="Slide Number Placeholder 3"/>
          <p:cNvSpPr>
            <a:spLocks noGrp="1"/>
          </p:cNvSpPr>
          <p:nvPr>
            <p:ph type="sldNum" sz="quarter" idx="12"/>
          </p:nvPr>
        </p:nvSpPr>
        <p:spPr/>
        <p:txBody>
          <a:bodyPr/>
          <a:lstStyle/>
          <a:p>
            <a:fld id="{E663B3CF-6C2D-4911-96EF-7D0E630954F6}" type="slidenum">
              <a:rPr lang="en-GB" smtClean="0"/>
              <a:pPr/>
              <a:t>35</a:t>
            </a:fld>
            <a:endParaRPr lang="en-GB"/>
          </a:p>
        </p:txBody>
      </p:sp>
    </p:spTree>
    <p:extLst>
      <p:ext uri="{BB962C8B-B14F-4D97-AF65-F5344CB8AC3E}">
        <p14:creationId xmlns:p14="http://schemas.microsoft.com/office/powerpoint/2010/main" val="32174541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639762"/>
          </a:xfrm>
        </p:spPr>
        <p:txBody>
          <a:bodyPr>
            <a:normAutofit fontScale="90000"/>
          </a:bodyPr>
          <a:lstStyle/>
          <a:p>
            <a:r>
              <a:rPr lang="en-US" b="1" dirty="0"/>
              <a:t>Delta to Star Transformation</a:t>
            </a:r>
            <a:endParaRPr lang="en-US" dirty="0"/>
          </a:p>
        </p:txBody>
      </p:sp>
      <p:pic>
        <p:nvPicPr>
          <p:cNvPr id="9" name="Content Placeholder 8"/>
          <p:cNvPicPr>
            <a:picLocks noGrp="1" noChangeAspect="1"/>
          </p:cNvPicPr>
          <p:nvPr>
            <p:ph idx="1"/>
          </p:nvPr>
        </p:nvPicPr>
        <p:blipFill>
          <a:blip r:embed="rId2"/>
          <a:stretch>
            <a:fillRect/>
          </a:stretch>
        </p:blipFill>
        <p:spPr>
          <a:xfrm>
            <a:off x="457200" y="1850800"/>
            <a:ext cx="8229600" cy="2721200"/>
          </a:xfrm>
          <a:prstGeom prst="rect">
            <a:avLst/>
          </a:prstGeom>
        </p:spPr>
      </p:pic>
      <p:sp>
        <p:nvSpPr>
          <p:cNvPr id="4" name="Slide Number Placeholder 3"/>
          <p:cNvSpPr>
            <a:spLocks noGrp="1"/>
          </p:cNvSpPr>
          <p:nvPr>
            <p:ph type="sldNum" sz="quarter" idx="12"/>
          </p:nvPr>
        </p:nvSpPr>
        <p:spPr/>
        <p:txBody>
          <a:bodyPr/>
          <a:lstStyle/>
          <a:p>
            <a:fld id="{E663B3CF-6C2D-4911-96EF-7D0E630954F6}" type="slidenum">
              <a:rPr lang="en-GB" smtClean="0"/>
              <a:pPr/>
              <a:t>36</a:t>
            </a:fld>
            <a:endParaRPr lang="en-GB"/>
          </a:p>
        </p:txBody>
      </p:sp>
    </p:spTree>
    <p:extLst>
      <p:ext uri="{BB962C8B-B14F-4D97-AF65-F5344CB8AC3E}">
        <p14:creationId xmlns:p14="http://schemas.microsoft.com/office/powerpoint/2010/main" val="34445599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EXAMPLE</a:t>
            </a:r>
          </a:p>
        </p:txBody>
      </p:sp>
      <p:sp>
        <p:nvSpPr>
          <p:cNvPr id="3" name="Content Placeholder 2"/>
          <p:cNvSpPr>
            <a:spLocks noGrp="1"/>
          </p:cNvSpPr>
          <p:nvPr>
            <p:ph idx="1"/>
          </p:nvPr>
        </p:nvSpPr>
        <p:spPr>
          <a:xfrm>
            <a:off x="228600" y="990600"/>
            <a:ext cx="8686800" cy="5135563"/>
          </a:xfrm>
        </p:spPr>
        <p:txBody>
          <a:bodyPr/>
          <a:lstStyle/>
          <a:p>
            <a:pPr marL="0" indent="0">
              <a:buNone/>
            </a:pPr>
            <a:r>
              <a:rPr lang="en-US" sz="2000" b="1" dirty="0"/>
              <a:t>1) Convert the Delta network in a) Fig.(a) to an equivalent star network</a:t>
            </a:r>
            <a:endParaRPr lang="en-US" dirty="0"/>
          </a:p>
        </p:txBody>
      </p:sp>
      <p:sp>
        <p:nvSpPr>
          <p:cNvPr id="4" name="Slide Number Placeholder 3"/>
          <p:cNvSpPr>
            <a:spLocks noGrp="1"/>
          </p:cNvSpPr>
          <p:nvPr>
            <p:ph type="sldNum" sz="quarter" idx="12"/>
          </p:nvPr>
        </p:nvSpPr>
        <p:spPr/>
        <p:txBody>
          <a:bodyPr/>
          <a:lstStyle/>
          <a:p>
            <a:fld id="{E663B3CF-6C2D-4911-96EF-7D0E630954F6}" type="slidenum">
              <a:rPr lang="en-GB" smtClean="0"/>
              <a:pPr/>
              <a:t>37</a:t>
            </a:fld>
            <a:endParaRPr lang="en-GB"/>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600200"/>
            <a:ext cx="5942012" cy="153352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743326"/>
            <a:ext cx="8153400" cy="193119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09600" y="3295566"/>
            <a:ext cx="1981200" cy="369332"/>
          </a:xfrm>
          <a:prstGeom prst="rect">
            <a:avLst/>
          </a:prstGeom>
        </p:spPr>
        <p:txBody>
          <a:bodyPr wrap="square">
            <a:spAutoFit/>
          </a:bodyPr>
          <a:lstStyle/>
          <a:p>
            <a:pPr algn="ctr"/>
            <a:r>
              <a:rPr lang="en-US" b="1" dirty="0"/>
              <a:t>Solution</a:t>
            </a:r>
            <a:endParaRPr lang="en-US" dirty="0"/>
          </a:p>
        </p:txBody>
      </p:sp>
    </p:spTree>
    <p:extLst>
      <p:ext uri="{BB962C8B-B14F-4D97-AF65-F5344CB8AC3E}">
        <p14:creationId xmlns:p14="http://schemas.microsoft.com/office/powerpoint/2010/main" val="31401039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 y="2590800"/>
            <a:ext cx="8229600" cy="1143000"/>
          </a:xfrm>
        </p:spPr>
        <p:txBody>
          <a:bodyPr/>
          <a:lstStyle/>
          <a:p>
            <a:r>
              <a:rPr lang="en-US" i="1" dirty="0">
                <a:solidFill>
                  <a:srgbClr val="FF0000"/>
                </a:solidFill>
              </a:rPr>
              <a:t>THANKS!</a:t>
            </a:r>
          </a:p>
        </p:txBody>
      </p:sp>
      <p:sp>
        <p:nvSpPr>
          <p:cNvPr id="4" name="Slide Number Placeholder 3"/>
          <p:cNvSpPr>
            <a:spLocks noGrp="1"/>
          </p:cNvSpPr>
          <p:nvPr>
            <p:ph type="sldNum" sz="quarter" idx="12"/>
          </p:nvPr>
        </p:nvSpPr>
        <p:spPr/>
        <p:txBody>
          <a:bodyPr/>
          <a:lstStyle/>
          <a:p>
            <a:fld id="{E663B3CF-6C2D-4911-96EF-7D0E630954F6}" type="slidenum">
              <a:rPr lang="en-GB" smtClean="0"/>
              <a:pPr/>
              <a:t>38</a:t>
            </a:fld>
            <a:endParaRPr lang="en-GB"/>
          </a:p>
        </p:txBody>
      </p:sp>
    </p:spTree>
    <p:extLst>
      <p:ext uri="{BB962C8B-B14F-4D97-AF65-F5344CB8AC3E}">
        <p14:creationId xmlns:p14="http://schemas.microsoft.com/office/powerpoint/2010/main" val="916263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19764</TotalTime>
  <Words>2403</Words>
  <Application>Microsoft Office PowerPoint</Application>
  <PresentationFormat>On-screen Show (4:3)</PresentationFormat>
  <Paragraphs>214</Paragraphs>
  <Slides>38</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2</vt:i4>
      </vt:variant>
      <vt:variant>
        <vt:lpstr>Slide Titles</vt:lpstr>
      </vt:variant>
      <vt:variant>
        <vt:i4>38</vt:i4>
      </vt:variant>
    </vt:vector>
  </HeadingPairs>
  <TitlesOfParts>
    <vt:vector size="44" baseType="lpstr">
      <vt:lpstr>Arial</vt:lpstr>
      <vt:lpstr>Calibri</vt:lpstr>
      <vt:lpstr>Wingdings</vt:lpstr>
      <vt:lpstr>Office Theme</vt:lpstr>
      <vt:lpstr>SmartDraw</vt:lpstr>
      <vt:lpstr>Equation</vt:lpstr>
      <vt:lpstr>NETWORK THEOREMS</vt:lpstr>
      <vt:lpstr> Overview </vt:lpstr>
      <vt:lpstr>The Electricity System</vt:lpstr>
      <vt:lpstr>NETWORK THEOREMS</vt:lpstr>
      <vt:lpstr>Introduction</vt:lpstr>
      <vt:lpstr>INTRODUCTION TO THEVENINS AND NORTONS THEOREM</vt:lpstr>
      <vt:lpstr>THEVENIN’S THEOREM</vt:lpstr>
      <vt:lpstr>THEVENIN EQUIVALENT CIRCUIT</vt:lpstr>
      <vt:lpstr>STEPS INVOLVED IN APPLYING THEVENINS THEOREM TO A CIRCUIT</vt:lpstr>
      <vt:lpstr>NORTONS THEOREM</vt:lpstr>
      <vt:lpstr>NORTON’S THEOREM</vt:lpstr>
      <vt:lpstr>STEPS INVOLVED IN APPLYING NORTONS THEOREM IN CIRCUITS</vt:lpstr>
      <vt:lpstr>WORKED EXAMPLE </vt:lpstr>
      <vt:lpstr>  We now deactivate the sources to the left of A-B and find the resistance seen looking in these terminals. </vt:lpstr>
      <vt:lpstr>PowerPoint Presentation</vt:lpstr>
      <vt:lpstr>EXAMPLE 2</vt:lpstr>
      <vt:lpstr>PowerPoint Presentation</vt:lpstr>
      <vt:lpstr>PowerPoint Presentation</vt:lpstr>
      <vt:lpstr>PowerPoint Presentation</vt:lpstr>
      <vt:lpstr>NORTON’S THEOREM</vt:lpstr>
      <vt:lpstr>SUPERPOSITION THEOREM</vt:lpstr>
      <vt:lpstr>SUPERPOSITION THEOREM</vt:lpstr>
      <vt:lpstr>CONT…</vt:lpstr>
      <vt:lpstr>Cont….</vt:lpstr>
      <vt:lpstr>Cont…</vt:lpstr>
      <vt:lpstr>EXAMPLE</vt:lpstr>
      <vt:lpstr>STEPS INVOLVED IN APPLYING SUPERPOSITION THEOREM TO A CIRCUIT</vt:lpstr>
      <vt:lpstr>RECIPROCITY THEOREM</vt:lpstr>
      <vt:lpstr>POINTS TO NOTE</vt:lpstr>
      <vt:lpstr>ILLUSTRATION</vt:lpstr>
      <vt:lpstr>MAXIMUM POWER TRANSFER</vt:lpstr>
      <vt:lpstr>Cont…</vt:lpstr>
      <vt:lpstr>ILLUSTRATION</vt:lpstr>
      <vt:lpstr> Star to Delta and Delta to Star Transformations </vt:lpstr>
      <vt:lpstr>Delta to Star Transformation</vt:lpstr>
      <vt:lpstr>Delta to Star Transformation</vt:lpstr>
      <vt:lpstr>EXAMPLE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Ruhiya</dc:creator>
  <cp:lastModifiedBy>Dr Ruhiya</cp:lastModifiedBy>
  <cp:revision>221</cp:revision>
  <dcterms:created xsi:type="dcterms:W3CDTF">2013-09-10T09:17:30Z</dcterms:created>
  <dcterms:modified xsi:type="dcterms:W3CDTF">2023-08-22T18:59:35Z</dcterms:modified>
</cp:coreProperties>
</file>