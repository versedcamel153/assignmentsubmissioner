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1"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7914A-3D4E-9BAA-B289-BEE38C3563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3133BB-1E98-AF37-D0A7-9A5EFA143D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0A830A-F080-2265-9AC8-50E8D256771B}"/>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5" name="Footer Placeholder 4">
            <a:extLst>
              <a:ext uri="{FF2B5EF4-FFF2-40B4-BE49-F238E27FC236}">
                <a16:creationId xmlns:a16="http://schemas.microsoft.com/office/drawing/2014/main" id="{23B0ED0D-79B6-22AC-738F-6D8DE7AD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2B0973-7062-EC07-5C07-17CF94B677CB}"/>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1659431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FA46-035F-51F3-2F18-D6714BBA1E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0EE2F1-91A9-1246-D6BB-8411A7D1EA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B4772-F035-915B-5A87-C492DAEBEA0D}"/>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5" name="Footer Placeholder 4">
            <a:extLst>
              <a:ext uri="{FF2B5EF4-FFF2-40B4-BE49-F238E27FC236}">
                <a16:creationId xmlns:a16="http://schemas.microsoft.com/office/drawing/2014/main" id="{F1F840B3-0DBB-C10E-1912-AA69BADCD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32829-BB35-12DD-CE13-4F30013B76AC}"/>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337868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8E8FB-6EF7-5986-EB94-59DC5F6662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D771B5-E556-C29B-C2F4-EF55AB78EC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0D150A-D9CA-D3A3-06AD-1AA4561ADE81}"/>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5" name="Footer Placeholder 4">
            <a:extLst>
              <a:ext uri="{FF2B5EF4-FFF2-40B4-BE49-F238E27FC236}">
                <a16:creationId xmlns:a16="http://schemas.microsoft.com/office/drawing/2014/main" id="{68D4B107-BBA2-62B9-042C-6BA461C65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9455E8-8255-A976-D676-674655EF8B8B}"/>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1731668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271DD-4668-1D9A-6308-552B1027E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0DCA9D-FC43-1A4B-1061-D4E846670B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023DDA-9521-FAFA-7EDD-213B05F264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4377E5-6CC7-13AF-C0E0-23974BEB712D}"/>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6" name="Footer Placeholder 5">
            <a:extLst>
              <a:ext uri="{FF2B5EF4-FFF2-40B4-BE49-F238E27FC236}">
                <a16:creationId xmlns:a16="http://schemas.microsoft.com/office/drawing/2014/main" id="{7E54B911-CB10-E437-1EB5-B1F0A801AD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D8E85E-E374-AC37-50A6-CF72A95D8D35}"/>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518053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27569-977B-3F15-98D4-1CFB022F58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A30CA3-9249-B443-C078-7A088C0C7B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BA70B0-B829-768B-D6A0-5E7EAD7C77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132097-28E0-242E-F25A-CF9B243C6F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656626-6FDE-53C5-1013-7E58FFB1C9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73D83E-62F2-4339-80DA-49D43F2DE6F0}"/>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8" name="Footer Placeholder 7">
            <a:extLst>
              <a:ext uri="{FF2B5EF4-FFF2-40B4-BE49-F238E27FC236}">
                <a16:creationId xmlns:a16="http://schemas.microsoft.com/office/drawing/2014/main" id="{D0C3C6B6-F234-B8DB-40CD-C80D5E78E5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968FF6-5B77-3FC4-CB45-3D2786A87C28}"/>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618705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6AE6F-D08C-07C1-CA0D-D33DBC3730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890C87-F679-EBA8-CB5C-9486EAC38089}"/>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4" name="Footer Placeholder 3">
            <a:extLst>
              <a:ext uri="{FF2B5EF4-FFF2-40B4-BE49-F238E27FC236}">
                <a16:creationId xmlns:a16="http://schemas.microsoft.com/office/drawing/2014/main" id="{5F76446B-0FFD-2611-7930-6D67F436E0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EAAB77-90DD-95BF-F279-D69D42CFFD3B}"/>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4034447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DF13A7-D560-DBC9-6024-89CB7A60A20D}"/>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3" name="Footer Placeholder 2">
            <a:extLst>
              <a:ext uri="{FF2B5EF4-FFF2-40B4-BE49-F238E27FC236}">
                <a16:creationId xmlns:a16="http://schemas.microsoft.com/office/drawing/2014/main" id="{E23E62B1-1FB9-ABFF-B365-BDD8E2D7F9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29C8CE-610A-2BF2-111B-5995148985CD}"/>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2982611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983B2-E5BD-C707-C0FD-8F4122E68C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51E951-2870-0102-9CCB-C5B289A8F8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6FC3-0D7E-DADE-A4A3-32D1C87C47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98FCC3-3BB0-76F4-7CFE-F24779701027}"/>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6" name="Footer Placeholder 5">
            <a:extLst>
              <a:ext uri="{FF2B5EF4-FFF2-40B4-BE49-F238E27FC236}">
                <a16:creationId xmlns:a16="http://schemas.microsoft.com/office/drawing/2014/main" id="{6475F2BC-0419-C5FF-B10B-B807A23F6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9097A-B1F1-2BB2-E9B1-734E764FFEFC}"/>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2061642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F6F2-3A86-65CA-E3FA-720C1F6D08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6C75F6-7D86-B3DB-7EF7-38C0F858E0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E3283B-D41F-DDDA-40E3-980770D517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68BFF3-0712-28AA-0F88-731353203121}"/>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6" name="Footer Placeholder 5">
            <a:extLst>
              <a:ext uri="{FF2B5EF4-FFF2-40B4-BE49-F238E27FC236}">
                <a16:creationId xmlns:a16="http://schemas.microsoft.com/office/drawing/2014/main" id="{A01A6323-4FBB-6205-ABDF-B9C1D52C29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34828B-B720-DA74-1FCA-37580F373EC6}"/>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407951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9B47B-F151-6321-00DE-B65B85B3F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B32A4B-74A2-3BD6-5A5C-D708C90B79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53DE0-DF3F-941C-BF2B-8C1380BCFDCF}"/>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5" name="Footer Placeholder 4">
            <a:extLst>
              <a:ext uri="{FF2B5EF4-FFF2-40B4-BE49-F238E27FC236}">
                <a16:creationId xmlns:a16="http://schemas.microsoft.com/office/drawing/2014/main" id="{23ED1ADD-0969-6612-D941-1D9A3CFB5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1AC083-8F8F-D135-6619-5150682E8D3F}"/>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1417069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D7AD64-B174-084B-39A7-9739B76B51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431CBB-0E0B-3A1E-7F8B-2E2784DB05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8F28A-B1D8-22F9-3F35-E5154873F118}"/>
              </a:ext>
            </a:extLst>
          </p:cNvPr>
          <p:cNvSpPr>
            <a:spLocks noGrp="1"/>
          </p:cNvSpPr>
          <p:nvPr>
            <p:ph type="dt" sz="half" idx="10"/>
          </p:nvPr>
        </p:nvSpPr>
        <p:spPr/>
        <p:txBody>
          <a:bodyPr/>
          <a:lstStyle/>
          <a:p>
            <a:fld id="{B71263FE-45FF-42AA-B37F-DA4D6B3888E2}" type="datetimeFigureOut">
              <a:rPr lang="en-US" smtClean="0"/>
              <a:t>6/10/2025</a:t>
            </a:fld>
            <a:endParaRPr lang="en-US"/>
          </a:p>
        </p:txBody>
      </p:sp>
      <p:sp>
        <p:nvSpPr>
          <p:cNvPr id="5" name="Footer Placeholder 4">
            <a:extLst>
              <a:ext uri="{FF2B5EF4-FFF2-40B4-BE49-F238E27FC236}">
                <a16:creationId xmlns:a16="http://schemas.microsoft.com/office/drawing/2014/main" id="{794F9311-7873-A704-497E-00ED36E8EE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D2D3DF-DD13-B9D0-B5B6-FC0A493AFB8D}"/>
              </a:ext>
            </a:extLst>
          </p:cNvPr>
          <p:cNvSpPr>
            <a:spLocks noGrp="1"/>
          </p:cNvSpPr>
          <p:nvPr>
            <p:ph type="sldNum" sz="quarter" idx="12"/>
          </p:nvPr>
        </p:nvSpPr>
        <p:spPr/>
        <p:txBody>
          <a:bodyPr/>
          <a:lstStyle/>
          <a:p>
            <a:fld id="{81B1A68C-299A-42D4-8662-CFF4CA233329}" type="slidenum">
              <a:rPr lang="en-US" smtClean="0"/>
              <a:t>‹#›</a:t>
            </a:fld>
            <a:endParaRPr lang="en-US"/>
          </a:p>
        </p:txBody>
      </p:sp>
    </p:spTree>
    <p:extLst>
      <p:ext uri="{BB962C8B-B14F-4D97-AF65-F5344CB8AC3E}">
        <p14:creationId xmlns:p14="http://schemas.microsoft.com/office/powerpoint/2010/main" val="1805244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D08A6A-BA3C-BCB6-059C-3C14F3996D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418F39-B7D9-C76A-99DA-C93D06BC90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E4EB74-ABC4-D842-ED9B-8D6246FE8F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1263FE-45FF-42AA-B37F-DA4D6B3888E2}" type="datetimeFigureOut">
              <a:rPr lang="en-US" smtClean="0"/>
              <a:t>6/10/2025</a:t>
            </a:fld>
            <a:endParaRPr lang="en-US"/>
          </a:p>
        </p:txBody>
      </p:sp>
      <p:sp>
        <p:nvSpPr>
          <p:cNvPr id="5" name="Footer Placeholder 4">
            <a:extLst>
              <a:ext uri="{FF2B5EF4-FFF2-40B4-BE49-F238E27FC236}">
                <a16:creationId xmlns:a16="http://schemas.microsoft.com/office/drawing/2014/main" id="{40DCDC65-D8EF-1C08-920D-D462912F1B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EB6C5F-8D07-A7AB-445A-681FA954F6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1A68C-299A-42D4-8662-CFF4CA233329}" type="slidenum">
              <a:rPr lang="en-US" smtClean="0"/>
              <a:t>‹#›</a:t>
            </a:fld>
            <a:endParaRPr lang="en-US"/>
          </a:p>
        </p:txBody>
      </p:sp>
    </p:spTree>
    <p:extLst>
      <p:ext uri="{BB962C8B-B14F-4D97-AF65-F5344CB8AC3E}">
        <p14:creationId xmlns:p14="http://schemas.microsoft.com/office/powerpoint/2010/main" val="1626796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28881-3BF2-DB76-394E-8EBD73D40C26}"/>
              </a:ext>
            </a:extLst>
          </p:cNvPr>
          <p:cNvSpPr>
            <a:spLocks noGrp="1"/>
          </p:cNvSpPr>
          <p:nvPr>
            <p:ph type="ctrTitle"/>
          </p:nvPr>
        </p:nvSpPr>
        <p:spPr/>
        <p:txBody>
          <a:bodyPr>
            <a:normAutofit/>
          </a:bodyPr>
          <a:lstStyle/>
          <a:p>
            <a:r>
              <a:rPr lang="en-US" sz="3200" b="1" dirty="0"/>
              <a:t>The Concept of Paragraphing</a:t>
            </a:r>
          </a:p>
        </p:txBody>
      </p:sp>
      <p:sp>
        <p:nvSpPr>
          <p:cNvPr id="3" name="Subtitle 2">
            <a:extLst>
              <a:ext uri="{FF2B5EF4-FFF2-40B4-BE49-F238E27FC236}">
                <a16:creationId xmlns:a16="http://schemas.microsoft.com/office/drawing/2014/main" id="{EBFF3EF6-A4FD-276D-2F57-050AD43E0109}"/>
              </a:ext>
            </a:extLst>
          </p:cNvPr>
          <p:cNvSpPr>
            <a:spLocks noGrp="1"/>
          </p:cNvSpPr>
          <p:nvPr>
            <p:ph type="subTitle" idx="1"/>
          </p:nvPr>
        </p:nvSpPr>
        <p:spPr/>
        <p:txBody>
          <a:bodyPr/>
          <a:lstStyle/>
          <a:p>
            <a:endParaRPr lang="en-US" dirty="0"/>
          </a:p>
          <a:p>
            <a:r>
              <a:rPr lang="en-US" sz="3200" b="1" dirty="0"/>
              <a:t>Design and Purpose</a:t>
            </a:r>
          </a:p>
        </p:txBody>
      </p:sp>
    </p:spTree>
    <p:extLst>
      <p:ext uri="{BB962C8B-B14F-4D97-AF65-F5344CB8AC3E}">
        <p14:creationId xmlns:p14="http://schemas.microsoft.com/office/powerpoint/2010/main" val="72132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B7B50-80FA-5AE8-34E7-88C3158168FF}"/>
              </a:ext>
            </a:extLst>
          </p:cNvPr>
          <p:cNvSpPr>
            <a:spLocks noGrp="1"/>
          </p:cNvSpPr>
          <p:nvPr>
            <p:ph type="title"/>
          </p:nvPr>
        </p:nvSpPr>
        <p:spPr>
          <a:xfrm>
            <a:off x="323557" y="196949"/>
            <a:ext cx="11690252" cy="759654"/>
          </a:xfrm>
        </p:spPr>
        <p:txBody>
          <a:bodyPr>
            <a:normAutofit fontScale="90000"/>
          </a:bodyPr>
          <a:lstStyle/>
          <a:p>
            <a:pPr algn="ctr"/>
            <a:br>
              <a:rPr lang="en-US" sz="3200" b="1" dirty="0"/>
            </a:br>
            <a:r>
              <a:rPr lang="en-US" sz="3600" b="1" dirty="0"/>
              <a:t>Presentation Outline</a:t>
            </a:r>
            <a:endParaRPr lang="en-US" sz="3600" dirty="0"/>
          </a:p>
        </p:txBody>
      </p:sp>
      <p:sp>
        <p:nvSpPr>
          <p:cNvPr id="3" name="Content Placeholder 2">
            <a:extLst>
              <a:ext uri="{FF2B5EF4-FFF2-40B4-BE49-F238E27FC236}">
                <a16:creationId xmlns:a16="http://schemas.microsoft.com/office/drawing/2014/main" id="{05FB5DF1-632D-CA26-AEA9-C6D546890D84}"/>
              </a:ext>
            </a:extLst>
          </p:cNvPr>
          <p:cNvSpPr>
            <a:spLocks noGrp="1"/>
          </p:cNvSpPr>
          <p:nvPr>
            <p:ph idx="1"/>
          </p:nvPr>
        </p:nvSpPr>
        <p:spPr>
          <a:xfrm>
            <a:off x="211015" y="1097280"/>
            <a:ext cx="11690252" cy="5563771"/>
          </a:xfrm>
        </p:spPr>
        <p:txBody>
          <a:bodyPr>
            <a:normAutofit fontScale="85000" lnSpcReduction="10000"/>
          </a:bodyPr>
          <a:lstStyle/>
          <a:p>
            <a:r>
              <a:rPr lang="en-US" sz="3200" dirty="0"/>
              <a:t>Introduction</a:t>
            </a:r>
          </a:p>
          <a:p>
            <a:pPr marL="0" indent="0">
              <a:buNone/>
            </a:pPr>
            <a:endParaRPr lang="en-US" sz="3200" dirty="0"/>
          </a:p>
          <a:p>
            <a:r>
              <a:rPr lang="en-US" sz="3200" dirty="0"/>
              <a:t>Defining a Paragraph</a:t>
            </a:r>
          </a:p>
          <a:p>
            <a:endParaRPr lang="en-US" sz="3200" dirty="0"/>
          </a:p>
          <a:p>
            <a:r>
              <a:rPr lang="en-US" sz="3200" dirty="0"/>
              <a:t>Topic sentence, supporting sentences, concluding sentence</a:t>
            </a:r>
          </a:p>
          <a:p>
            <a:pPr marL="0" indent="0">
              <a:buNone/>
            </a:pPr>
            <a:endParaRPr lang="en-US" sz="3200" dirty="0"/>
          </a:p>
          <a:p>
            <a:r>
              <a:rPr lang="en-US" sz="3200" dirty="0"/>
              <a:t>Types – inductive paragraph, deductive paragraph, and balanced paragraph</a:t>
            </a:r>
          </a:p>
          <a:p>
            <a:pPr marL="0" indent="0">
              <a:buNone/>
            </a:pPr>
            <a:endParaRPr lang="en-US" sz="3200" dirty="0"/>
          </a:p>
          <a:p>
            <a:r>
              <a:rPr lang="en-US" sz="3200" dirty="0"/>
              <a:t>Conclusion</a:t>
            </a:r>
          </a:p>
          <a:p>
            <a:endParaRPr lang="en-US" sz="3200" dirty="0"/>
          </a:p>
          <a:p>
            <a:endParaRPr lang="en-US" sz="3200" dirty="0"/>
          </a:p>
          <a:p>
            <a:r>
              <a:rPr lang="en-US" sz="3200" dirty="0"/>
              <a:t>References</a:t>
            </a:r>
          </a:p>
          <a:p>
            <a:endParaRPr lang="en-US" dirty="0"/>
          </a:p>
        </p:txBody>
      </p:sp>
    </p:spTree>
    <p:extLst>
      <p:ext uri="{BB962C8B-B14F-4D97-AF65-F5344CB8AC3E}">
        <p14:creationId xmlns:p14="http://schemas.microsoft.com/office/powerpoint/2010/main" val="2937957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E3C7-0E97-745D-2CD0-6D50B18B78E8}"/>
              </a:ext>
            </a:extLst>
          </p:cNvPr>
          <p:cNvSpPr>
            <a:spLocks noGrp="1"/>
          </p:cNvSpPr>
          <p:nvPr>
            <p:ph type="title"/>
          </p:nvPr>
        </p:nvSpPr>
        <p:spPr>
          <a:xfrm>
            <a:off x="253217" y="140678"/>
            <a:ext cx="11676185" cy="745588"/>
          </a:xfrm>
        </p:spPr>
        <p:txBody>
          <a:bodyPr>
            <a:normAutofit/>
          </a:bodyPr>
          <a:lstStyle/>
          <a:p>
            <a:pPr algn="ctr"/>
            <a:r>
              <a:rPr lang="en-US" sz="3200" b="1" dirty="0"/>
              <a:t>Objectives / Learning Outcomes</a:t>
            </a:r>
          </a:p>
        </p:txBody>
      </p:sp>
      <p:sp>
        <p:nvSpPr>
          <p:cNvPr id="3" name="Content Placeholder 2">
            <a:extLst>
              <a:ext uri="{FF2B5EF4-FFF2-40B4-BE49-F238E27FC236}">
                <a16:creationId xmlns:a16="http://schemas.microsoft.com/office/drawing/2014/main" id="{CBA1299B-423E-B86E-BF48-411F8FF9517A}"/>
              </a:ext>
            </a:extLst>
          </p:cNvPr>
          <p:cNvSpPr>
            <a:spLocks noGrp="1"/>
          </p:cNvSpPr>
          <p:nvPr>
            <p:ph idx="1"/>
          </p:nvPr>
        </p:nvSpPr>
        <p:spPr>
          <a:xfrm>
            <a:off x="262598" y="886266"/>
            <a:ext cx="11676184" cy="5683346"/>
          </a:xfrm>
        </p:spPr>
        <p:txBody>
          <a:bodyPr/>
          <a:lstStyle/>
          <a:p>
            <a:pPr lvl="0"/>
            <a:r>
              <a:rPr lang="en-US" sz="3200" dirty="0"/>
              <a:t>By the end of the lecture, the student should be able to:</a:t>
            </a:r>
          </a:p>
          <a:p>
            <a:pPr lvl="0"/>
            <a:endParaRPr lang="en-US" sz="3200" dirty="0"/>
          </a:p>
          <a:p>
            <a:pPr lvl="0"/>
            <a:r>
              <a:rPr lang="en-US" sz="3200" dirty="0"/>
              <a:t>define the concept of paragraphing in writing</a:t>
            </a:r>
          </a:p>
          <a:p>
            <a:pPr lvl="0"/>
            <a:r>
              <a:rPr lang="en-US" sz="3200" dirty="0"/>
              <a:t>discuss topic sentence, supporting sentences, and concluding sentence</a:t>
            </a:r>
          </a:p>
          <a:p>
            <a:pPr lvl="0"/>
            <a:r>
              <a:rPr lang="en-US" sz="3200" dirty="0"/>
              <a:t>identify and explain the types of paragraphing and positions of topic sentences in paragraphs</a:t>
            </a:r>
          </a:p>
          <a:p>
            <a:r>
              <a:rPr lang="en-US" dirty="0"/>
              <a:t>discuss sample paragraphs and topic sentence positions</a:t>
            </a:r>
          </a:p>
        </p:txBody>
      </p:sp>
    </p:spTree>
    <p:extLst>
      <p:ext uri="{BB962C8B-B14F-4D97-AF65-F5344CB8AC3E}">
        <p14:creationId xmlns:p14="http://schemas.microsoft.com/office/powerpoint/2010/main" val="3684702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BB9A9-3BAA-A783-C14B-8BF068A43398}"/>
              </a:ext>
            </a:extLst>
          </p:cNvPr>
          <p:cNvSpPr>
            <a:spLocks noGrp="1"/>
          </p:cNvSpPr>
          <p:nvPr>
            <p:ph type="title"/>
          </p:nvPr>
        </p:nvSpPr>
        <p:spPr>
          <a:xfrm>
            <a:off x="182879" y="112543"/>
            <a:ext cx="11802793" cy="717452"/>
          </a:xfrm>
        </p:spPr>
        <p:txBody>
          <a:bodyPr>
            <a:normAutofit/>
          </a:bodyPr>
          <a:lstStyle/>
          <a:p>
            <a:pPr algn="ctr"/>
            <a:r>
              <a:rPr lang="en-US" sz="3200" b="1" dirty="0"/>
              <a:t>The Paragraph</a:t>
            </a:r>
          </a:p>
        </p:txBody>
      </p:sp>
      <p:sp>
        <p:nvSpPr>
          <p:cNvPr id="3" name="Content Placeholder 2">
            <a:extLst>
              <a:ext uri="{FF2B5EF4-FFF2-40B4-BE49-F238E27FC236}">
                <a16:creationId xmlns:a16="http://schemas.microsoft.com/office/drawing/2014/main" id="{D246E264-8118-55F3-3ECE-B899F0997938}"/>
              </a:ext>
            </a:extLst>
          </p:cNvPr>
          <p:cNvSpPr>
            <a:spLocks noGrp="1"/>
          </p:cNvSpPr>
          <p:nvPr>
            <p:ph idx="1"/>
          </p:nvPr>
        </p:nvSpPr>
        <p:spPr>
          <a:xfrm>
            <a:off x="182880" y="829995"/>
            <a:ext cx="11802794" cy="5809956"/>
          </a:xfrm>
        </p:spPr>
        <p:txBody>
          <a:bodyPr/>
          <a:lstStyle/>
          <a:p>
            <a:endParaRPr lang="en-US" dirty="0"/>
          </a:p>
          <a:p>
            <a:r>
              <a:rPr lang="en-US" dirty="0"/>
              <a:t>Paragraph?</a:t>
            </a:r>
          </a:p>
          <a:p>
            <a:r>
              <a:rPr lang="en-US" dirty="0"/>
              <a:t>The Topic Sentence?</a:t>
            </a:r>
          </a:p>
          <a:p>
            <a:r>
              <a:rPr lang="en-US" dirty="0"/>
              <a:t>The Supporting S</a:t>
            </a:r>
            <a:r>
              <a:rPr lang="en-US" sz="3200" dirty="0"/>
              <a:t>entences</a:t>
            </a:r>
            <a:r>
              <a:rPr lang="en-US" dirty="0"/>
              <a:t>?</a:t>
            </a:r>
          </a:p>
          <a:p>
            <a:r>
              <a:rPr lang="en-US" dirty="0"/>
              <a:t>The Concluding Sentence?</a:t>
            </a:r>
          </a:p>
          <a:p>
            <a:endParaRPr lang="en-US" dirty="0"/>
          </a:p>
          <a:p>
            <a:endParaRPr lang="en-US" dirty="0"/>
          </a:p>
          <a:p>
            <a:endParaRPr lang="en-US" dirty="0"/>
          </a:p>
          <a:p>
            <a:endParaRPr lang="en-US" dirty="0"/>
          </a:p>
          <a:p>
            <a:pPr marL="0" indent="0">
              <a:buNone/>
            </a:pPr>
            <a:endParaRPr lang="en-US" dirty="0"/>
          </a:p>
          <a:p>
            <a:pPr marL="0" indent="0">
              <a:buNone/>
            </a:pPr>
            <a:r>
              <a:rPr lang="en-US" dirty="0"/>
              <a:t>(Wong, 2015; Quagie, 2012; Sekyi-Baidoo, 2003)</a:t>
            </a:r>
          </a:p>
          <a:p>
            <a:pPr marL="0" indent="0">
              <a:buNone/>
            </a:pPr>
            <a:endParaRPr lang="en-US" dirty="0"/>
          </a:p>
        </p:txBody>
      </p:sp>
    </p:spTree>
    <p:extLst>
      <p:ext uri="{BB962C8B-B14F-4D97-AF65-F5344CB8AC3E}">
        <p14:creationId xmlns:p14="http://schemas.microsoft.com/office/powerpoint/2010/main" val="3881070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A67AB-5002-4228-B733-581C52C27D0E}"/>
              </a:ext>
            </a:extLst>
          </p:cNvPr>
          <p:cNvSpPr>
            <a:spLocks noGrp="1"/>
          </p:cNvSpPr>
          <p:nvPr>
            <p:ph type="title"/>
          </p:nvPr>
        </p:nvSpPr>
        <p:spPr>
          <a:xfrm>
            <a:off x="182879" y="175847"/>
            <a:ext cx="11844997" cy="738553"/>
          </a:xfrm>
        </p:spPr>
        <p:txBody>
          <a:bodyPr/>
          <a:lstStyle/>
          <a:p>
            <a:pPr algn="ctr"/>
            <a:r>
              <a:rPr lang="en-US" dirty="0"/>
              <a:t> </a:t>
            </a:r>
            <a:r>
              <a:rPr lang="en-US" sz="3200" b="1" dirty="0"/>
              <a:t>Types of Paragraphs and Purposes</a:t>
            </a:r>
          </a:p>
        </p:txBody>
      </p:sp>
      <p:sp>
        <p:nvSpPr>
          <p:cNvPr id="3" name="Content Placeholder 2">
            <a:extLst>
              <a:ext uri="{FF2B5EF4-FFF2-40B4-BE49-F238E27FC236}">
                <a16:creationId xmlns:a16="http://schemas.microsoft.com/office/drawing/2014/main" id="{4D113754-5544-0629-77A3-DDD9D3E6006D}"/>
              </a:ext>
            </a:extLst>
          </p:cNvPr>
          <p:cNvSpPr>
            <a:spLocks noGrp="1"/>
          </p:cNvSpPr>
          <p:nvPr>
            <p:ph idx="1"/>
          </p:nvPr>
        </p:nvSpPr>
        <p:spPr>
          <a:xfrm>
            <a:off x="182879" y="914400"/>
            <a:ext cx="11844997" cy="5767753"/>
          </a:xfrm>
        </p:spPr>
        <p:txBody>
          <a:bodyPr/>
          <a:lstStyle/>
          <a:p>
            <a:r>
              <a:rPr lang="en-US" dirty="0"/>
              <a:t>Inductive, deductive, and balanced paragraph (</a:t>
            </a:r>
            <a:r>
              <a:rPr lang="en-US" dirty="0" err="1"/>
              <a:t>Soundararaj</a:t>
            </a:r>
            <a:r>
              <a:rPr lang="en-US" dirty="0"/>
              <a:t>, 2012; Jungk, 2005</a:t>
            </a:r>
            <a:r>
              <a:rPr lang="fi-FI" dirty="0"/>
              <a:t>)</a:t>
            </a:r>
            <a:r>
              <a:rPr lang="en-US" dirty="0"/>
              <a:t>. </a:t>
            </a:r>
          </a:p>
          <a:p>
            <a:r>
              <a:rPr lang="en-US" dirty="0"/>
              <a:t>According to Jungk (2005) writers use the </a:t>
            </a:r>
            <a:r>
              <a:rPr lang="en-US" b="1" dirty="0"/>
              <a:t>Inductive or indirect paragraph </a:t>
            </a:r>
            <a:r>
              <a:rPr lang="en-US" dirty="0"/>
              <a:t>when writers make attempt to persuade skeptical readers, thus, readers who are not easily convinced, having doubts, or reservations or when the readers must hear bad news. </a:t>
            </a:r>
          </a:p>
          <a:p>
            <a:r>
              <a:rPr lang="en-US" dirty="0"/>
              <a:t>Nevertheless, writers use the </a:t>
            </a:r>
            <a:r>
              <a:rPr lang="en-US" b="1" dirty="0"/>
              <a:t>deductive or direct paragraph </a:t>
            </a:r>
            <a:r>
              <a:rPr lang="en-US" dirty="0"/>
              <a:t>when they think the readers will be excited or happy to hear the news or will readily accept the conditions of the message.  </a:t>
            </a:r>
          </a:p>
          <a:p>
            <a:endParaRPr lang="en-US" dirty="0"/>
          </a:p>
        </p:txBody>
      </p:sp>
    </p:spTree>
    <p:extLst>
      <p:ext uri="{BB962C8B-B14F-4D97-AF65-F5344CB8AC3E}">
        <p14:creationId xmlns:p14="http://schemas.microsoft.com/office/powerpoint/2010/main" val="2005442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25D68-D6FD-0B7D-12B4-A6991233618A}"/>
              </a:ext>
            </a:extLst>
          </p:cNvPr>
          <p:cNvSpPr>
            <a:spLocks noGrp="1"/>
          </p:cNvSpPr>
          <p:nvPr>
            <p:ph type="title"/>
          </p:nvPr>
        </p:nvSpPr>
        <p:spPr>
          <a:xfrm>
            <a:off x="126609" y="126610"/>
            <a:ext cx="11901268" cy="759656"/>
          </a:xfrm>
        </p:spPr>
        <p:txBody>
          <a:bodyPr>
            <a:normAutofit/>
          </a:bodyPr>
          <a:lstStyle/>
          <a:p>
            <a:pPr algn="ctr"/>
            <a:r>
              <a:rPr lang="en-US" sz="3200" b="1" dirty="0"/>
              <a:t>Paragraph 1 - Paragraph on Communication</a:t>
            </a:r>
            <a:endParaRPr lang="en-US" sz="3200" dirty="0"/>
          </a:p>
        </p:txBody>
      </p:sp>
      <p:sp>
        <p:nvSpPr>
          <p:cNvPr id="3" name="Content Placeholder 2">
            <a:extLst>
              <a:ext uri="{FF2B5EF4-FFF2-40B4-BE49-F238E27FC236}">
                <a16:creationId xmlns:a16="http://schemas.microsoft.com/office/drawing/2014/main" id="{F53D5EFC-0973-4F64-A76B-557A6FF16A86}"/>
              </a:ext>
            </a:extLst>
          </p:cNvPr>
          <p:cNvSpPr>
            <a:spLocks noGrp="1"/>
          </p:cNvSpPr>
          <p:nvPr>
            <p:ph idx="1"/>
          </p:nvPr>
        </p:nvSpPr>
        <p:spPr>
          <a:xfrm>
            <a:off x="126609" y="886266"/>
            <a:ext cx="11901268" cy="5845124"/>
          </a:xfrm>
        </p:spPr>
        <p:txBody>
          <a:bodyPr/>
          <a:lstStyle/>
          <a:p>
            <a:pPr marL="0" indent="0" algn="just">
              <a:buNone/>
            </a:pPr>
            <a:br>
              <a:rPr lang="en-US" b="1" dirty="0"/>
            </a:br>
            <a:r>
              <a:rPr lang="en-US" dirty="0"/>
              <a:t>Effective communication is the foundation of successful relationships, both personal and professional. It involves not only speaking clearly but also listening actively to understand others’ perspectives. In the workplace, good communication reduces misunderstandings and boosts teamwork while in personal life, it strengthens bonds and resolves conflicts. Communicative skills such as body language, tone of voice, and written messages all play critical roles in conveying meaning. The simplest tasks can become challenging without clear communication, highlighting the importance of communication in our daily lives.</a:t>
            </a:r>
          </a:p>
          <a:p>
            <a:endParaRPr lang="en-US" dirty="0"/>
          </a:p>
        </p:txBody>
      </p:sp>
    </p:spTree>
    <p:extLst>
      <p:ext uri="{BB962C8B-B14F-4D97-AF65-F5344CB8AC3E}">
        <p14:creationId xmlns:p14="http://schemas.microsoft.com/office/powerpoint/2010/main" val="1061886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1FC3-393C-A312-8B79-508A05DCBFAA}"/>
              </a:ext>
            </a:extLst>
          </p:cNvPr>
          <p:cNvSpPr>
            <a:spLocks noGrp="1"/>
          </p:cNvSpPr>
          <p:nvPr>
            <p:ph type="title"/>
          </p:nvPr>
        </p:nvSpPr>
        <p:spPr>
          <a:xfrm>
            <a:off x="154745" y="126610"/>
            <a:ext cx="11901267" cy="554428"/>
          </a:xfrm>
        </p:spPr>
        <p:txBody>
          <a:bodyPr>
            <a:normAutofit fontScale="90000"/>
          </a:bodyPr>
          <a:lstStyle/>
          <a:p>
            <a:pPr algn="ctr"/>
            <a:br>
              <a:rPr lang="en-US" sz="3600" b="1" dirty="0"/>
            </a:br>
            <a:r>
              <a:rPr lang="en-US" sz="3600" b="1" dirty="0"/>
              <a:t>Paragraph 2 - Paragraph on New Water-treatment Plant Construction</a:t>
            </a:r>
            <a:br>
              <a:rPr lang="en-US" b="1" dirty="0"/>
            </a:br>
            <a:endParaRPr lang="en-US" dirty="0"/>
          </a:p>
        </p:txBody>
      </p:sp>
      <p:sp>
        <p:nvSpPr>
          <p:cNvPr id="3" name="Content Placeholder 2">
            <a:extLst>
              <a:ext uri="{FF2B5EF4-FFF2-40B4-BE49-F238E27FC236}">
                <a16:creationId xmlns:a16="http://schemas.microsoft.com/office/drawing/2014/main" id="{4FF31AB5-AC83-7F31-175F-D5F31CDFE732}"/>
              </a:ext>
            </a:extLst>
          </p:cNvPr>
          <p:cNvSpPr>
            <a:spLocks noGrp="1"/>
          </p:cNvSpPr>
          <p:nvPr>
            <p:ph idx="1"/>
          </p:nvPr>
        </p:nvSpPr>
        <p:spPr>
          <a:xfrm>
            <a:off x="154745" y="681038"/>
            <a:ext cx="11882510" cy="6050352"/>
          </a:xfrm>
        </p:spPr>
        <p:txBody>
          <a:bodyPr/>
          <a:lstStyle/>
          <a:p>
            <a:pPr marL="0" indent="0">
              <a:buNone/>
            </a:pPr>
            <a:r>
              <a:rPr lang="en-US" dirty="0"/>
              <a:t>Dear Helen,</a:t>
            </a:r>
          </a:p>
          <a:p>
            <a:pPr marL="0" indent="0">
              <a:buNone/>
            </a:pPr>
            <a:r>
              <a:rPr lang="en-US" dirty="0"/>
              <a:t>Once again, it is a pleasure working with you and your company. I received your drawings this morning and wanted to ask you a couple of questions about the new water-treatment plant construction, so that we can get started.</a:t>
            </a:r>
          </a:p>
          <a:p>
            <a:pPr marL="0" indent="0">
              <a:buNone/>
            </a:pPr>
            <a:r>
              <a:rPr lang="en-US" dirty="0"/>
              <a:t>On drawing reference E8, you indicated two 3-inch conduits between the ballast coagulation-unit control panel and JB 3A and 3C. I couldn’t locate a power source for these conduits or any lines for them.</a:t>
            </a:r>
          </a:p>
          <a:p>
            <a:pPr marL="0" indent="0">
              <a:buNone/>
            </a:pPr>
            <a:r>
              <a:rPr lang="en-US" dirty="0"/>
              <a:t>     Sincerely, Enock.     </a:t>
            </a:r>
          </a:p>
          <a:p>
            <a:pPr marL="0" indent="0">
              <a:buNone/>
            </a:pPr>
            <a:endParaRPr lang="en-US" dirty="0"/>
          </a:p>
          <a:p>
            <a:pPr marL="0" indent="0">
              <a:buNone/>
            </a:pPr>
            <a:endParaRPr lang="en-US" dirty="0"/>
          </a:p>
          <a:p>
            <a:pPr marL="0" indent="0">
              <a:buNone/>
            </a:pPr>
            <a:endParaRPr lang="en-US" dirty="0"/>
          </a:p>
          <a:p>
            <a:pPr marL="0" indent="0">
              <a:buNone/>
            </a:pPr>
            <a:r>
              <a:rPr lang="en-US" dirty="0"/>
              <a:t>Adapted from Jungk (2005) </a:t>
            </a:r>
          </a:p>
          <a:p>
            <a:endParaRPr lang="en-US" dirty="0"/>
          </a:p>
        </p:txBody>
      </p:sp>
    </p:spTree>
    <p:extLst>
      <p:ext uri="{BB962C8B-B14F-4D97-AF65-F5344CB8AC3E}">
        <p14:creationId xmlns:p14="http://schemas.microsoft.com/office/powerpoint/2010/main" val="501239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74ED2-A256-7A05-27A4-C868A0C62D9E}"/>
              </a:ext>
            </a:extLst>
          </p:cNvPr>
          <p:cNvSpPr>
            <a:spLocks noGrp="1"/>
          </p:cNvSpPr>
          <p:nvPr>
            <p:ph type="title"/>
          </p:nvPr>
        </p:nvSpPr>
        <p:spPr>
          <a:xfrm>
            <a:off x="126609" y="126609"/>
            <a:ext cx="11915336" cy="717453"/>
          </a:xfrm>
        </p:spPr>
        <p:txBody>
          <a:bodyPr>
            <a:normAutofit/>
          </a:bodyPr>
          <a:lstStyle/>
          <a:p>
            <a:pPr algn="ctr"/>
            <a:r>
              <a:rPr lang="en-US" sz="3200" b="1" dirty="0"/>
              <a:t>Conclusion</a:t>
            </a:r>
          </a:p>
        </p:txBody>
      </p:sp>
      <p:sp>
        <p:nvSpPr>
          <p:cNvPr id="3" name="Content Placeholder 2">
            <a:extLst>
              <a:ext uri="{FF2B5EF4-FFF2-40B4-BE49-F238E27FC236}">
                <a16:creationId xmlns:a16="http://schemas.microsoft.com/office/drawing/2014/main" id="{86D21D62-9BEC-F060-88BB-AD19702C68C2}"/>
              </a:ext>
            </a:extLst>
          </p:cNvPr>
          <p:cNvSpPr>
            <a:spLocks noGrp="1"/>
          </p:cNvSpPr>
          <p:nvPr>
            <p:ph idx="1"/>
          </p:nvPr>
        </p:nvSpPr>
        <p:spPr>
          <a:xfrm>
            <a:off x="126609" y="844062"/>
            <a:ext cx="11938782" cy="5767753"/>
          </a:xfrm>
        </p:spPr>
        <p:txBody>
          <a:bodyPr/>
          <a:lstStyle/>
          <a:p>
            <a:pPr algn="just"/>
            <a:r>
              <a:rPr lang="en-US" dirty="0"/>
              <a:t>A paragraph is a composition of related sentences that presents main idea and supporting ideas. </a:t>
            </a:r>
          </a:p>
          <a:p>
            <a:pPr algn="just"/>
            <a:r>
              <a:rPr lang="en-US" dirty="0"/>
              <a:t>The main idea is the topic sentence which is usually positioned at the beginning of the paragraph (deductive) or at the end of the paragraph (inductive) and rarely found in the middle (balanced) of the paragraph.</a:t>
            </a:r>
          </a:p>
        </p:txBody>
      </p:sp>
    </p:spTree>
    <p:extLst>
      <p:ext uri="{BB962C8B-B14F-4D97-AF65-F5344CB8AC3E}">
        <p14:creationId xmlns:p14="http://schemas.microsoft.com/office/powerpoint/2010/main" val="178640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4290-1364-7B07-4036-38F4ECDBD709}"/>
              </a:ext>
            </a:extLst>
          </p:cNvPr>
          <p:cNvSpPr>
            <a:spLocks noGrp="1"/>
          </p:cNvSpPr>
          <p:nvPr>
            <p:ph type="title"/>
          </p:nvPr>
        </p:nvSpPr>
        <p:spPr>
          <a:xfrm>
            <a:off x="196947" y="168813"/>
            <a:ext cx="11844997" cy="717452"/>
          </a:xfrm>
        </p:spPr>
        <p:txBody>
          <a:bodyPr>
            <a:normAutofit/>
          </a:bodyPr>
          <a:lstStyle/>
          <a:p>
            <a:pPr algn="ctr"/>
            <a:r>
              <a:rPr lang="en-US" sz="3200" b="1" dirty="0"/>
              <a:t>References</a:t>
            </a:r>
          </a:p>
        </p:txBody>
      </p:sp>
      <p:sp>
        <p:nvSpPr>
          <p:cNvPr id="3" name="Content Placeholder 2">
            <a:extLst>
              <a:ext uri="{FF2B5EF4-FFF2-40B4-BE49-F238E27FC236}">
                <a16:creationId xmlns:a16="http://schemas.microsoft.com/office/drawing/2014/main" id="{00283190-22CA-D9FF-4AA9-DE094E64E6DC}"/>
              </a:ext>
            </a:extLst>
          </p:cNvPr>
          <p:cNvSpPr>
            <a:spLocks noGrp="1"/>
          </p:cNvSpPr>
          <p:nvPr>
            <p:ph idx="1"/>
          </p:nvPr>
        </p:nvSpPr>
        <p:spPr>
          <a:xfrm>
            <a:off x="196947" y="886265"/>
            <a:ext cx="11844997" cy="5802922"/>
          </a:xfrm>
        </p:spPr>
        <p:txBody>
          <a:bodyPr>
            <a:normAutofit fontScale="92500" lnSpcReduction="20000"/>
          </a:bodyPr>
          <a:lstStyle/>
          <a:p>
            <a:pPr marL="0" indent="0" algn="just">
              <a:buNone/>
            </a:pPr>
            <a:r>
              <a:rPr lang="en-US" sz="3000" dirty="0"/>
              <a:t>Jungk, D. (2005). </a:t>
            </a:r>
            <a:r>
              <a:rPr lang="en-US" sz="3000" i="1" dirty="0"/>
              <a:t>Applied Writing for Technicians</a:t>
            </a:r>
            <a:r>
              <a:rPr lang="en-US" sz="3000" dirty="0"/>
              <a:t>. New York: McGraw-Hill </a:t>
            </a:r>
          </a:p>
          <a:p>
            <a:pPr marL="0" indent="0" algn="just">
              <a:buNone/>
            </a:pPr>
            <a:r>
              <a:rPr lang="en-US" sz="3000" dirty="0"/>
              <a:t>        Companies, Inc..</a:t>
            </a:r>
          </a:p>
          <a:p>
            <a:pPr marL="0" indent="0" algn="just">
              <a:buNone/>
            </a:pPr>
            <a:endParaRPr lang="en-US" sz="3000" dirty="0"/>
          </a:p>
          <a:p>
            <a:pPr marL="0" indent="0" algn="just">
              <a:buNone/>
            </a:pPr>
            <a:r>
              <a:rPr lang="en-US" sz="3000" dirty="0"/>
              <a:t>Sekyi-Baidoo, Y. (2003). </a:t>
            </a:r>
            <a:r>
              <a:rPr lang="en-US" sz="3000" i="1" dirty="0"/>
              <a:t>Learning &amp; Communicating</a:t>
            </a:r>
            <a:r>
              <a:rPr lang="en-US" sz="3000" dirty="0"/>
              <a:t>. 2nd ed. Accra: </a:t>
            </a:r>
          </a:p>
          <a:p>
            <a:pPr marL="0" indent="0" algn="just">
              <a:buNone/>
            </a:pPr>
            <a:r>
              <a:rPr lang="en-US" sz="3000" dirty="0"/>
              <a:t>        Infinity Graphics Ltd.</a:t>
            </a:r>
          </a:p>
          <a:p>
            <a:pPr algn="just"/>
            <a:r>
              <a:rPr lang="en-US" sz="3000" dirty="0" err="1"/>
              <a:t>Soundararaj</a:t>
            </a:r>
            <a:r>
              <a:rPr lang="en-US" sz="3000" dirty="0"/>
              <a:t>, F. (2012). </a:t>
            </a:r>
            <a:r>
              <a:rPr lang="en-US" sz="3000" i="1" dirty="0"/>
              <a:t>Basics of Communication in English: Soft Skills for Listening, </a:t>
            </a:r>
          </a:p>
          <a:p>
            <a:pPr marL="0" indent="0" algn="just">
              <a:buNone/>
            </a:pPr>
            <a:r>
              <a:rPr lang="en-US" sz="3000" i="1" dirty="0"/>
              <a:t>                       Speaking,  Reading &amp; Writing</a:t>
            </a:r>
            <a:r>
              <a:rPr lang="en-US" sz="3000" dirty="0"/>
              <a:t>. India: Macmillan Publishers.</a:t>
            </a:r>
          </a:p>
          <a:p>
            <a:pPr marL="0" indent="0" algn="just">
              <a:buNone/>
            </a:pPr>
            <a:endParaRPr lang="en-US" sz="3000" dirty="0"/>
          </a:p>
          <a:p>
            <a:pPr marL="0" indent="0" algn="just">
              <a:buNone/>
            </a:pPr>
            <a:r>
              <a:rPr lang="en-US" sz="3000" dirty="0"/>
              <a:t>Quagie, J.K. (2012). </a:t>
            </a:r>
            <a:r>
              <a:rPr lang="en-US" sz="3000" i="1" dirty="0"/>
              <a:t>English: A Tool for Communication for Universities and </a:t>
            </a:r>
          </a:p>
          <a:p>
            <a:pPr marL="0" indent="0" algn="just">
              <a:buNone/>
            </a:pPr>
            <a:r>
              <a:rPr lang="en-US" sz="3000" i="1" dirty="0"/>
              <a:t>          Tertiary Institutions</a:t>
            </a:r>
            <a:r>
              <a:rPr lang="en-US" sz="3000" dirty="0"/>
              <a:t>.   2nd ed. Accra: Hybrid Publications.</a:t>
            </a:r>
          </a:p>
          <a:p>
            <a:pPr marL="0" indent="0" algn="just">
              <a:buNone/>
            </a:pPr>
            <a:r>
              <a:rPr lang="en-US" sz="3000" dirty="0"/>
              <a:t>Wong, L. (2015). </a:t>
            </a:r>
            <a:r>
              <a:rPr lang="en-US" sz="3000" i="1" dirty="0"/>
              <a:t>Essential Study Skills</a:t>
            </a:r>
            <a:r>
              <a:rPr lang="en-US" sz="3000" dirty="0"/>
              <a:t>. 8th ed. Stamford: Nelson Education</a:t>
            </a:r>
          </a:p>
          <a:p>
            <a:pPr marL="0" indent="0" algn="just">
              <a:buNone/>
            </a:pPr>
            <a:r>
              <a:rPr lang="en-US" sz="3000" dirty="0"/>
              <a:t>         Ltd..</a:t>
            </a:r>
          </a:p>
          <a:p>
            <a:endParaRPr lang="en-US" dirty="0"/>
          </a:p>
        </p:txBody>
      </p:sp>
    </p:spTree>
    <p:extLst>
      <p:ext uri="{BB962C8B-B14F-4D97-AF65-F5344CB8AC3E}">
        <p14:creationId xmlns:p14="http://schemas.microsoft.com/office/powerpoint/2010/main" val="324566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561E-A932-FD63-EB1F-ED8CF8859F81}"/>
              </a:ext>
            </a:extLst>
          </p:cNvPr>
          <p:cNvSpPr>
            <a:spLocks noGrp="1"/>
          </p:cNvSpPr>
          <p:nvPr>
            <p:ph type="title"/>
          </p:nvPr>
        </p:nvSpPr>
        <p:spPr>
          <a:xfrm>
            <a:off x="168811" y="365125"/>
            <a:ext cx="11859065" cy="1325563"/>
          </a:xfrm>
        </p:spPr>
        <p:txBody>
          <a:bodyPr/>
          <a:lstStyle/>
          <a:p>
            <a:endParaRPr lang="en-US" dirty="0"/>
          </a:p>
        </p:txBody>
      </p:sp>
      <p:sp>
        <p:nvSpPr>
          <p:cNvPr id="3" name="Content Placeholder 2">
            <a:extLst>
              <a:ext uri="{FF2B5EF4-FFF2-40B4-BE49-F238E27FC236}">
                <a16:creationId xmlns:a16="http://schemas.microsoft.com/office/drawing/2014/main" id="{FF3CE882-BA2D-FC45-4758-F3A308B357AF}"/>
              </a:ext>
            </a:extLst>
          </p:cNvPr>
          <p:cNvSpPr>
            <a:spLocks noGrp="1"/>
          </p:cNvSpPr>
          <p:nvPr>
            <p:ph idx="1"/>
          </p:nvPr>
        </p:nvSpPr>
        <p:spPr>
          <a:xfrm>
            <a:off x="168811" y="1825625"/>
            <a:ext cx="11859065" cy="4351338"/>
          </a:xfrm>
        </p:spPr>
        <p:txBody>
          <a:bodyPr/>
          <a:lstStyle/>
          <a:p>
            <a:endParaRPr lang="en-US" dirty="0"/>
          </a:p>
          <a:p>
            <a:endParaRPr lang="en-US" dirty="0"/>
          </a:p>
          <a:p>
            <a:endParaRPr lang="en-US" dirty="0"/>
          </a:p>
          <a:p>
            <a:pPr marL="0" indent="0">
              <a:buNone/>
            </a:pPr>
            <a:r>
              <a:rPr lang="en-US" dirty="0"/>
              <a:t>                                                </a:t>
            </a:r>
            <a:r>
              <a:rPr lang="en-US" sz="3200" b="1" dirty="0"/>
              <a:t>Thank you</a:t>
            </a:r>
          </a:p>
        </p:txBody>
      </p:sp>
    </p:spTree>
    <p:extLst>
      <p:ext uri="{BB962C8B-B14F-4D97-AF65-F5344CB8AC3E}">
        <p14:creationId xmlns:p14="http://schemas.microsoft.com/office/powerpoint/2010/main" val="1678875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615</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The Concept of Paragraphing</vt:lpstr>
      <vt:lpstr> Presentation Outline</vt:lpstr>
      <vt:lpstr>Objectives / Learning Outcomes</vt:lpstr>
      <vt:lpstr>The Paragraph</vt:lpstr>
      <vt:lpstr> Types of Paragraphs and Purposes</vt:lpstr>
      <vt:lpstr>Paragraph 1 - Paragraph on Communication</vt:lpstr>
      <vt:lpstr> Paragraph 2 - Paragraph on New Water-treatment Plant Construction </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Gifty Budu</dc:creator>
  <cp:lastModifiedBy>Gifty Budu</cp:lastModifiedBy>
  <cp:revision>14</cp:revision>
  <dcterms:created xsi:type="dcterms:W3CDTF">2025-06-10T04:06:26Z</dcterms:created>
  <dcterms:modified xsi:type="dcterms:W3CDTF">2025-06-10T04:49:31Z</dcterms:modified>
</cp:coreProperties>
</file>